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D9971E-B44F-4DB2-9E47-B8366C1E25EA}" v="8" dt="2026-05-15T08:33:49.02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7" name="Shape 87"/>
          <p:cNvSpPr>
            <a:spLocks noGrp="1" noRot="1" noChangeAspect="1"/>
          </p:cNvSpPr>
          <p:nvPr>
            <p:ph type="sldImg"/>
          </p:nvPr>
        </p:nvSpPr>
        <p:spPr>
          <a:xfrm>
            <a:off x="1143000" y="685800"/>
            <a:ext cx="4572000" cy="3429000"/>
          </a:xfrm>
          <a:prstGeom prst="rect">
            <a:avLst/>
          </a:prstGeom>
        </p:spPr>
        <p:txBody>
          <a:bodyPr/>
          <a:lstStyle/>
          <a:p>
            <a:endParaRPr/>
          </a:p>
        </p:txBody>
      </p:sp>
      <p:sp>
        <p:nvSpPr>
          <p:cNvPr id="88" name="Shape 8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8" name="Title Text"/>
          <p:cNvSpPr txBox="1">
            <a:spLocks noGrp="1"/>
          </p:cNvSpPr>
          <p:nvPr>
            <p:ph type="title"/>
          </p:nvPr>
        </p:nvSpPr>
        <p:spPr>
          <a:xfrm>
            <a:off x="685800" y="2125979"/>
            <a:ext cx="7772400" cy="1440181"/>
          </a:xfrm>
          <a:prstGeom prst="rect">
            <a:avLst/>
          </a:prstGeom>
        </p:spPr>
        <p:txBody>
          <a:bodyPr>
            <a:normAutofit/>
          </a:bodyPr>
          <a:lstStyle/>
          <a:p>
            <a:r>
              <a:t>Title Text</a:t>
            </a:r>
          </a:p>
        </p:txBody>
      </p:sp>
      <p:sp>
        <p:nvSpPr>
          <p:cNvPr id="19" name="Body Level One…"/>
          <p:cNvSpPr txBox="1">
            <a:spLocks noGrp="1"/>
          </p:cNvSpPr>
          <p:nvPr>
            <p:ph type="body" sz="quarter" idx="1"/>
          </p:nvPr>
        </p:nvSpPr>
        <p:spPr>
          <a:xfrm>
            <a:off x="1371600" y="3840479"/>
            <a:ext cx="6400800" cy="17145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7" name="bg object 16"/>
          <p:cNvSpPr/>
          <p:nvPr/>
        </p:nvSpPr>
        <p:spPr>
          <a:xfrm>
            <a:off x="0" y="0"/>
            <a:ext cx="9144000" cy="838200"/>
          </a:xfrm>
          <a:prstGeom prst="rect">
            <a:avLst/>
          </a:prstGeom>
          <a:solidFill>
            <a:srgbClr val="FF3300"/>
          </a:solidFill>
          <a:ln w="12700">
            <a:miter lim="400000"/>
          </a:ln>
        </p:spPr>
        <p:txBody>
          <a:bodyPr lIns="45719" rIns="45719"/>
          <a:lstStyle/>
          <a:p>
            <a:endParaRPr/>
          </a:p>
        </p:txBody>
      </p:sp>
      <p:pic>
        <p:nvPicPr>
          <p:cNvPr id="28" name="bg object 17" descr="bg object 17"/>
          <p:cNvPicPr>
            <a:picLocks noChangeAspect="1"/>
          </p:cNvPicPr>
          <p:nvPr/>
        </p:nvPicPr>
        <p:blipFill>
          <a:blip r:embed="rId2"/>
          <a:stretch>
            <a:fillRect/>
          </a:stretch>
        </p:blipFill>
        <p:spPr>
          <a:xfrm>
            <a:off x="0" y="6701026"/>
            <a:ext cx="9143239" cy="156211"/>
          </a:xfrm>
          <a:prstGeom prst="rect">
            <a:avLst/>
          </a:prstGeom>
          <a:ln w="12700">
            <a:miter lim="400000"/>
          </a:ln>
        </p:spPr>
      </p:pic>
      <p:pic>
        <p:nvPicPr>
          <p:cNvPr id="29" name="bg object 18" descr="bg object 18"/>
          <p:cNvPicPr>
            <a:picLocks noChangeAspect="1"/>
          </p:cNvPicPr>
          <p:nvPr/>
        </p:nvPicPr>
        <p:blipFill>
          <a:blip r:embed="rId3"/>
          <a:stretch>
            <a:fillRect/>
          </a:stretch>
        </p:blipFill>
        <p:spPr>
          <a:xfrm>
            <a:off x="6553200" y="228600"/>
            <a:ext cx="2057400" cy="635000"/>
          </a:xfrm>
          <a:prstGeom prst="rect">
            <a:avLst/>
          </a:prstGeom>
          <a:ln w="12700">
            <a:miter lim="400000"/>
          </a:ln>
        </p:spPr>
      </p:pic>
      <p:sp>
        <p:nvSpPr>
          <p:cNvPr id="30" name="bg object 19"/>
          <p:cNvSpPr/>
          <p:nvPr/>
        </p:nvSpPr>
        <p:spPr>
          <a:xfrm>
            <a:off x="6146800" y="0"/>
            <a:ext cx="2997200" cy="838200"/>
          </a:xfrm>
          <a:prstGeom prst="rect">
            <a:avLst/>
          </a:prstGeom>
          <a:solidFill>
            <a:srgbClr val="FF3300"/>
          </a:solidFill>
          <a:ln w="12700">
            <a:miter lim="400000"/>
          </a:ln>
        </p:spPr>
        <p:txBody>
          <a:bodyPr lIns="45719" rIns="45719"/>
          <a:lstStyle/>
          <a:p>
            <a:endParaRPr/>
          </a:p>
        </p:txBody>
      </p:sp>
      <p:pic>
        <p:nvPicPr>
          <p:cNvPr id="31" name="bg object 20" descr="bg object 20"/>
          <p:cNvPicPr>
            <a:picLocks noChangeAspect="1"/>
          </p:cNvPicPr>
          <p:nvPr/>
        </p:nvPicPr>
        <p:blipFill>
          <a:blip r:embed="rId4"/>
          <a:stretch>
            <a:fillRect/>
          </a:stretch>
        </p:blipFill>
        <p:spPr>
          <a:xfrm>
            <a:off x="6553200" y="228600"/>
            <a:ext cx="2057400" cy="635000"/>
          </a:xfrm>
          <a:prstGeom prst="rect">
            <a:avLst/>
          </a:prstGeom>
          <a:ln w="12700">
            <a:miter lim="400000"/>
          </a:ln>
        </p:spPr>
      </p:pic>
      <p:sp>
        <p:nvSpPr>
          <p:cNvPr id="32" name="bg object 21"/>
          <p:cNvSpPr/>
          <p:nvPr/>
        </p:nvSpPr>
        <p:spPr>
          <a:xfrm>
            <a:off x="6527800" y="190500"/>
            <a:ext cx="2076450" cy="685800"/>
          </a:xfrm>
          <a:prstGeom prst="rect">
            <a:avLst/>
          </a:prstGeom>
          <a:solidFill>
            <a:srgbClr val="FFFFFF"/>
          </a:solidFill>
          <a:ln w="12700">
            <a:miter lim="400000"/>
          </a:ln>
        </p:spPr>
        <p:txBody>
          <a:bodyPr lIns="45719" rIns="45719"/>
          <a:lstStyle/>
          <a:p>
            <a:endParaRPr/>
          </a:p>
        </p:txBody>
      </p:sp>
      <p:pic>
        <p:nvPicPr>
          <p:cNvPr id="33" name="bg object 22" descr="bg object 22"/>
          <p:cNvPicPr>
            <a:picLocks noChangeAspect="1"/>
          </p:cNvPicPr>
          <p:nvPr/>
        </p:nvPicPr>
        <p:blipFill>
          <a:blip r:embed="rId5"/>
          <a:stretch>
            <a:fillRect/>
          </a:stretch>
        </p:blipFill>
        <p:spPr>
          <a:xfrm>
            <a:off x="6553200" y="228600"/>
            <a:ext cx="1920875" cy="609600"/>
          </a:xfrm>
          <a:prstGeom prst="rect">
            <a:avLst/>
          </a:prstGeom>
          <a:ln w="12700">
            <a:miter lim="400000"/>
          </a:ln>
        </p:spPr>
      </p:pic>
      <p:sp>
        <p:nvSpPr>
          <p:cNvPr id="34" name="Title Text"/>
          <p:cNvSpPr txBox="1">
            <a:spLocks noGrp="1"/>
          </p:cNvSpPr>
          <p:nvPr>
            <p:ph type="title"/>
          </p:nvPr>
        </p:nvSpPr>
        <p:spPr>
          <a:xfrm>
            <a:off x="78738" y="186638"/>
            <a:ext cx="4778376" cy="607239"/>
          </a:xfrm>
          <a:prstGeom prst="rect">
            <a:avLst/>
          </a:prstGeom>
        </p:spPr>
        <p:txBody>
          <a:bodyPr>
            <a:normAutofit/>
          </a:bodyPr>
          <a:lstStyle/>
          <a:p>
            <a:r>
              <a:t>Title Text</a:t>
            </a:r>
          </a:p>
        </p:txBody>
      </p:sp>
      <p:sp>
        <p:nvSpPr>
          <p:cNvPr id="35" name="Body Level One…"/>
          <p:cNvSpPr txBox="1">
            <a:spLocks noGrp="1"/>
          </p:cNvSpPr>
          <p:nvPr>
            <p:ph type="body" sz="half" idx="1"/>
          </p:nvPr>
        </p:nvSpPr>
        <p:spPr>
          <a:xfrm>
            <a:off x="258267" y="1076958"/>
            <a:ext cx="8494395" cy="2160272"/>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3" name="Title Text"/>
          <p:cNvSpPr txBox="1">
            <a:spLocks noGrp="1"/>
          </p:cNvSpPr>
          <p:nvPr>
            <p:ph type="title"/>
          </p:nvPr>
        </p:nvSpPr>
        <p:spPr>
          <a:xfrm>
            <a:off x="78738" y="186638"/>
            <a:ext cx="4778376" cy="607239"/>
          </a:xfrm>
          <a:prstGeom prst="rect">
            <a:avLst/>
          </a:prstGeom>
        </p:spPr>
        <p:txBody>
          <a:bodyPr>
            <a:normAutofit/>
          </a:bodyPr>
          <a:lstStyle/>
          <a:p>
            <a:r>
              <a:t>Title Text</a:t>
            </a:r>
          </a:p>
        </p:txBody>
      </p:sp>
      <p:sp>
        <p:nvSpPr>
          <p:cNvPr id="44" name="Body Level One…"/>
          <p:cNvSpPr txBox="1">
            <a:spLocks noGrp="1"/>
          </p:cNvSpPr>
          <p:nvPr>
            <p:ph type="body" sz="half" idx="1"/>
          </p:nvPr>
        </p:nvSpPr>
        <p:spPr>
          <a:xfrm>
            <a:off x="457200" y="1577339"/>
            <a:ext cx="3977641" cy="452628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2" name="bg object 16"/>
          <p:cNvSpPr/>
          <p:nvPr/>
        </p:nvSpPr>
        <p:spPr>
          <a:xfrm>
            <a:off x="0" y="0"/>
            <a:ext cx="9144000" cy="838200"/>
          </a:xfrm>
          <a:prstGeom prst="rect">
            <a:avLst/>
          </a:prstGeom>
          <a:solidFill>
            <a:srgbClr val="FF3300"/>
          </a:solidFill>
          <a:ln w="12700">
            <a:miter lim="400000"/>
          </a:ln>
        </p:spPr>
        <p:txBody>
          <a:bodyPr lIns="45719" rIns="45719"/>
          <a:lstStyle/>
          <a:p>
            <a:endParaRPr/>
          </a:p>
        </p:txBody>
      </p:sp>
      <p:pic>
        <p:nvPicPr>
          <p:cNvPr id="53" name="bg object 17" descr="bg object 17"/>
          <p:cNvPicPr>
            <a:picLocks noChangeAspect="1"/>
          </p:cNvPicPr>
          <p:nvPr/>
        </p:nvPicPr>
        <p:blipFill>
          <a:blip r:embed="rId2"/>
          <a:stretch>
            <a:fillRect/>
          </a:stretch>
        </p:blipFill>
        <p:spPr>
          <a:xfrm>
            <a:off x="0" y="6701026"/>
            <a:ext cx="9143239" cy="156211"/>
          </a:xfrm>
          <a:prstGeom prst="rect">
            <a:avLst/>
          </a:prstGeom>
          <a:ln w="12700">
            <a:miter lim="400000"/>
          </a:ln>
        </p:spPr>
      </p:pic>
      <p:pic>
        <p:nvPicPr>
          <p:cNvPr id="54" name="bg object 18" descr="bg object 18"/>
          <p:cNvPicPr>
            <a:picLocks noChangeAspect="1"/>
          </p:cNvPicPr>
          <p:nvPr/>
        </p:nvPicPr>
        <p:blipFill>
          <a:blip r:embed="rId3"/>
          <a:stretch>
            <a:fillRect/>
          </a:stretch>
        </p:blipFill>
        <p:spPr>
          <a:xfrm>
            <a:off x="6553200" y="228600"/>
            <a:ext cx="2057400" cy="635000"/>
          </a:xfrm>
          <a:prstGeom prst="rect">
            <a:avLst/>
          </a:prstGeom>
          <a:ln w="12700">
            <a:miter lim="400000"/>
          </a:ln>
        </p:spPr>
      </p:pic>
      <p:sp>
        <p:nvSpPr>
          <p:cNvPr id="55" name="bg object 19"/>
          <p:cNvSpPr/>
          <p:nvPr/>
        </p:nvSpPr>
        <p:spPr>
          <a:xfrm>
            <a:off x="6146800" y="0"/>
            <a:ext cx="2997200" cy="838200"/>
          </a:xfrm>
          <a:prstGeom prst="rect">
            <a:avLst/>
          </a:prstGeom>
          <a:solidFill>
            <a:srgbClr val="FF3300"/>
          </a:solidFill>
          <a:ln w="12700">
            <a:miter lim="400000"/>
          </a:ln>
        </p:spPr>
        <p:txBody>
          <a:bodyPr lIns="45719" rIns="45719"/>
          <a:lstStyle/>
          <a:p>
            <a:endParaRPr/>
          </a:p>
        </p:txBody>
      </p:sp>
      <p:pic>
        <p:nvPicPr>
          <p:cNvPr id="56" name="bg object 20" descr="bg object 20"/>
          <p:cNvPicPr>
            <a:picLocks noChangeAspect="1"/>
          </p:cNvPicPr>
          <p:nvPr/>
        </p:nvPicPr>
        <p:blipFill>
          <a:blip r:embed="rId4"/>
          <a:stretch>
            <a:fillRect/>
          </a:stretch>
        </p:blipFill>
        <p:spPr>
          <a:xfrm>
            <a:off x="6553200" y="228600"/>
            <a:ext cx="2057400" cy="635000"/>
          </a:xfrm>
          <a:prstGeom prst="rect">
            <a:avLst/>
          </a:prstGeom>
          <a:ln w="12700">
            <a:miter lim="400000"/>
          </a:ln>
        </p:spPr>
      </p:pic>
      <p:sp>
        <p:nvSpPr>
          <p:cNvPr id="57" name="bg object 21"/>
          <p:cNvSpPr/>
          <p:nvPr/>
        </p:nvSpPr>
        <p:spPr>
          <a:xfrm>
            <a:off x="6527800" y="190500"/>
            <a:ext cx="2076450" cy="685800"/>
          </a:xfrm>
          <a:prstGeom prst="rect">
            <a:avLst/>
          </a:prstGeom>
          <a:solidFill>
            <a:srgbClr val="FFFFFF"/>
          </a:solidFill>
          <a:ln w="12700">
            <a:miter lim="400000"/>
          </a:ln>
        </p:spPr>
        <p:txBody>
          <a:bodyPr lIns="45719" rIns="45719"/>
          <a:lstStyle/>
          <a:p>
            <a:endParaRPr/>
          </a:p>
        </p:txBody>
      </p:sp>
      <p:pic>
        <p:nvPicPr>
          <p:cNvPr id="58" name="bg object 22" descr="bg object 22"/>
          <p:cNvPicPr>
            <a:picLocks noChangeAspect="1"/>
          </p:cNvPicPr>
          <p:nvPr/>
        </p:nvPicPr>
        <p:blipFill>
          <a:blip r:embed="rId5"/>
          <a:stretch>
            <a:fillRect/>
          </a:stretch>
        </p:blipFill>
        <p:spPr>
          <a:xfrm>
            <a:off x="6553200" y="228600"/>
            <a:ext cx="1920875" cy="609600"/>
          </a:xfrm>
          <a:prstGeom prst="rect">
            <a:avLst/>
          </a:prstGeom>
          <a:ln w="12700">
            <a:miter lim="400000"/>
          </a:ln>
        </p:spPr>
      </p:pic>
      <p:sp>
        <p:nvSpPr>
          <p:cNvPr id="59" name="Title Text"/>
          <p:cNvSpPr txBox="1">
            <a:spLocks noGrp="1"/>
          </p:cNvSpPr>
          <p:nvPr>
            <p:ph type="title"/>
          </p:nvPr>
        </p:nvSpPr>
        <p:spPr>
          <a:xfrm>
            <a:off x="78738" y="186638"/>
            <a:ext cx="4778376" cy="607239"/>
          </a:xfrm>
          <a:prstGeom prst="rect">
            <a:avLst/>
          </a:prstGeom>
        </p:spPr>
        <p:txBody>
          <a:bodyPr>
            <a:normAutofit/>
          </a:bodyPr>
          <a:lstStyle/>
          <a:p>
            <a:r>
              <a:t>Title Text</a:t>
            </a:r>
          </a:p>
        </p:txBody>
      </p:sp>
      <p:sp>
        <p:nvSpPr>
          <p:cNvPr id="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Blank Slide">
    <p:spTree>
      <p:nvGrpSpPr>
        <p:cNvPr id="1" name=""/>
        <p:cNvGrpSpPr/>
        <p:nvPr/>
      </p:nvGrpSpPr>
      <p:grpSpPr>
        <a:xfrm>
          <a:off x="0" y="0"/>
          <a:ext cx="0" cy="0"/>
          <a:chOff x="0" y="0"/>
          <a:chExt cx="0" cy="0"/>
        </a:xfrm>
      </p:grpSpPr>
      <p:sp>
        <p:nvSpPr>
          <p:cNvPr id="74" name="bg object 16"/>
          <p:cNvSpPr/>
          <p:nvPr/>
        </p:nvSpPr>
        <p:spPr>
          <a:xfrm>
            <a:off x="0" y="0"/>
            <a:ext cx="9144000" cy="838200"/>
          </a:xfrm>
          <a:prstGeom prst="rect">
            <a:avLst/>
          </a:prstGeom>
          <a:solidFill>
            <a:srgbClr val="FF3300"/>
          </a:solidFill>
          <a:ln w="12700">
            <a:miter lim="400000"/>
          </a:ln>
        </p:spPr>
        <p:txBody>
          <a:bodyPr lIns="45719" rIns="45719"/>
          <a:lstStyle/>
          <a:p>
            <a:endParaRPr/>
          </a:p>
        </p:txBody>
      </p:sp>
      <p:pic>
        <p:nvPicPr>
          <p:cNvPr id="75" name="bg object 17" descr="bg object 17"/>
          <p:cNvPicPr>
            <a:picLocks noChangeAspect="1"/>
          </p:cNvPicPr>
          <p:nvPr/>
        </p:nvPicPr>
        <p:blipFill>
          <a:blip r:embed="rId2"/>
          <a:stretch>
            <a:fillRect/>
          </a:stretch>
        </p:blipFill>
        <p:spPr>
          <a:xfrm>
            <a:off x="0" y="6701026"/>
            <a:ext cx="9143239" cy="156211"/>
          </a:xfrm>
          <a:prstGeom prst="rect">
            <a:avLst/>
          </a:prstGeom>
          <a:ln w="12700">
            <a:miter lim="400000"/>
          </a:ln>
        </p:spPr>
      </p:pic>
      <p:pic>
        <p:nvPicPr>
          <p:cNvPr id="76" name="bg object 18" descr="bg object 18"/>
          <p:cNvPicPr>
            <a:picLocks noChangeAspect="1"/>
          </p:cNvPicPr>
          <p:nvPr/>
        </p:nvPicPr>
        <p:blipFill>
          <a:blip r:embed="rId3"/>
          <a:stretch>
            <a:fillRect/>
          </a:stretch>
        </p:blipFill>
        <p:spPr>
          <a:xfrm>
            <a:off x="6553200" y="228600"/>
            <a:ext cx="2057400" cy="635000"/>
          </a:xfrm>
          <a:prstGeom prst="rect">
            <a:avLst/>
          </a:prstGeom>
          <a:ln w="12700">
            <a:miter lim="400000"/>
          </a:ln>
        </p:spPr>
      </p:pic>
      <p:sp>
        <p:nvSpPr>
          <p:cNvPr id="77" name="bg object 19"/>
          <p:cNvSpPr/>
          <p:nvPr/>
        </p:nvSpPr>
        <p:spPr>
          <a:xfrm>
            <a:off x="6146800" y="0"/>
            <a:ext cx="2997200" cy="838200"/>
          </a:xfrm>
          <a:prstGeom prst="rect">
            <a:avLst/>
          </a:prstGeom>
          <a:solidFill>
            <a:srgbClr val="FF3300"/>
          </a:solidFill>
          <a:ln w="12700">
            <a:miter lim="400000"/>
          </a:ln>
        </p:spPr>
        <p:txBody>
          <a:bodyPr lIns="45719" rIns="45719"/>
          <a:lstStyle/>
          <a:p>
            <a:endParaRPr/>
          </a:p>
        </p:txBody>
      </p:sp>
      <p:pic>
        <p:nvPicPr>
          <p:cNvPr id="78" name="bg object 20" descr="bg object 20"/>
          <p:cNvPicPr>
            <a:picLocks noChangeAspect="1"/>
          </p:cNvPicPr>
          <p:nvPr/>
        </p:nvPicPr>
        <p:blipFill>
          <a:blip r:embed="rId4"/>
          <a:stretch>
            <a:fillRect/>
          </a:stretch>
        </p:blipFill>
        <p:spPr>
          <a:xfrm>
            <a:off x="6553200" y="228600"/>
            <a:ext cx="2057400" cy="635000"/>
          </a:xfrm>
          <a:prstGeom prst="rect">
            <a:avLst/>
          </a:prstGeom>
          <a:ln w="12700">
            <a:miter lim="400000"/>
          </a:ln>
        </p:spPr>
      </p:pic>
      <p:sp>
        <p:nvSpPr>
          <p:cNvPr id="79" name="bg object 21"/>
          <p:cNvSpPr/>
          <p:nvPr/>
        </p:nvSpPr>
        <p:spPr>
          <a:xfrm>
            <a:off x="6527800" y="190500"/>
            <a:ext cx="2076450" cy="685800"/>
          </a:xfrm>
          <a:prstGeom prst="rect">
            <a:avLst/>
          </a:prstGeom>
          <a:solidFill>
            <a:srgbClr val="FFFFFF"/>
          </a:solidFill>
          <a:ln w="12700">
            <a:miter lim="400000"/>
          </a:ln>
        </p:spPr>
        <p:txBody>
          <a:bodyPr lIns="45719" rIns="45719"/>
          <a:lstStyle/>
          <a:p>
            <a:endParaRPr/>
          </a:p>
        </p:txBody>
      </p:sp>
      <p:pic>
        <p:nvPicPr>
          <p:cNvPr id="80" name="bg object 22" descr="bg object 22"/>
          <p:cNvPicPr>
            <a:picLocks noChangeAspect="1"/>
          </p:cNvPicPr>
          <p:nvPr/>
        </p:nvPicPr>
        <p:blipFill>
          <a:blip r:embed="rId5"/>
          <a:stretch>
            <a:fillRect/>
          </a:stretch>
        </p:blipFill>
        <p:spPr>
          <a:xfrm>
            <a:off x="6553200" y="228600"/>
            <a:ext cx="1920875" cy="609600"/>
          </a:xfrm>
          <a:prstGeom prst="rect">
            <a:avLst/>
          </a:prstGeom>
          <a:ln w="12700">
            <a:miter lim="400000"/>
          </a:ln>
        </p:spPr>
      </p:pic>
      <p:sp>
        <p:nvSpPr>
          <p:cNvPr id="81" name="Slide Number"/>
          <p:cNvSpPr txBox="1">
            <a:spLocks noGrp="1"/>
          </p:cNvSpPr>
          <p:nvPr>
            <p:ph type="sldNum" sz="quarter" idx="2"/>
          </p:nvPr>
        </p:nvSpPr>
        <p:spPr>
          <a:xfrm>
            <a:off x="4419600" y="6356350"/>
            <a:ext cx="2133600" cy="368300"/>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jpeg"/><Relationship Id="rId5" Type="http://schemas.openxmlformats.org/officeDocument/2006/relationships/slideLayout" Target="../slideLayouts/slideLayout5.xml"/><Relationship Id="rId10"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g object 16"/>
          <p:cNvSpPr/>
          <p:nvPr/>
        </p:nvSpPr>
        <p:spPr>
          <a:xfrm>
            <a:off x="0" y="0"/>
            <a:ext cx="9144000" cy="838200"/>
          </a:xfrm>
          <a:prstGeom prst="rect">
            <a:avLst/>
          </a:prstGeom>
          <a:solidFill>
            <a:srgbClr val="FF3300"/>
          </a:solidFill>
          <a:ln w="12700">
            <a:miter lim="400000"/>
          </a:ln>
        </p:spPr>
        <p:txBody>
          <a:bodyPr lIns="45719" rIns="45719"/>
          <a:lstStyle/>
          <a:p>
            <a:endParaRPr/>
          </a:p>
        </p:txBody>
      </p:sp>
      <p:pic>
        <p:nvPicPr>
          <p:cNvPr id="3" name="bg object 17" descr="bg object 17"/>
          <p:cNvPicPr>
            <a:picLocks noChangeAspect="1"/>
          </p:cNvPicPr>
          <p:nvPr/>
        </p:nvPicPr>
        <p:blipFill>
          <a:blip r:embed="rId8"/>
          <a:stretch>
            <a:fillRect/>
          </a:stretch>
        </p:blipFill>
        <p:spPr>
          <a:xfrm>
            <a:off x="0" y="6701026"/>
            <a:ext cx="9143239" cy="156211"/>
          </a:xfrm>
          <a:prstGeom prst="rect">
            <a:avLst/>
          </a:prstGeom>
          <a:ln w="12700">
            <a:miter lim="400000"/>
          </a:ln>
        </p:spPr>
      </p:pic>
      <p:pic>
        <p:nvPicPr>
          <p:cNvPr id="4" name="bg object 18" descr="bg object 18"/>
          <p:cNvPicPr>
            <a:picLocks noChangeAspect="1"/>
          </p:cNvPicPr>
          <p:nvPr/>
        </p:nvPicPr>
        <p:blipFill>
          <a:blip r:embed="rId9"/>
          <a:stretch>
            <a:fillRect/>
          </a:stretch>
        </p:blipFill>
        <p:spPr>
          <a:xfrm>
            <a:off x="6553200" y="228600"/>
            <a:ext cx="2057400" cy="635000"/>
          </a:xfrm>
          <a:prstGeom prst="rect">
            <a:avLst/>
          </a:prstGeom>
          <a:ln w="12700">
            <a:miter lim="400000"/>
          </a:ln>
        </p:spPr>
      </p:pic>
      <p:sp>
        <p:nvSpPr>
          <p:cNvPr id="5" name="bg object 19"/>
          <p:cNvSpPr/>
          <p:nvPr/>
        </p:nvSpPr>
        <p:spPr>
          <a:xfrm>
            <a:off x="6146800" y="0"/>
            <a:ext cx="2997200" cy="838200"/>
          </a:xfrm>
          <a:prstGeom prst="rect">
            <a:avLst/>
          </a:prstGeom>
          <a:solidFill>
            <a:srgbClr val="FF3300"/>
          </a:solidFill>
          <a:ln w="12700">
            <a:miter lim="400000"/>
          </a:ln>
        </p:spPr>
        <p:txBody>
          <a:bodyPr lIns="45719" rIns="45719"/>
          <a:lstStyle/>
          <a:p>
            <a:endParaRPr/>
          </a:p>
        </p:txBody>
      </p:sp>
      <p:pic>
        <p:nvPicPr>
          <p:cNvPr id="6" name="bg object 20" descr="bg object 20"/>
          <p:cNvPicPr>
            <a:picLocks noChangeAspect="1"/>
          </p:cNvPicPr>
          <p:nvPr/>
        </p:nvPicPr>
        <p:blipFill>
          <a:blip r:embed="rId10"/>
          <a:stretch>
            <a:fillRect/>
          </a:stretch>
        </p:blipFill>
        <p:spPr>
          <a:xfrm>
            <a:off x="6553200" y="228600"/>
            <a:ext cx="2057400" cy="635000"/>
          </a:xfrm>
          <a:prstGeom prst="rect">
            <a:avLst/>
          </a:prstGeom>
          <a:ln w="12700">
            <a:miter lim="400000"/>
          </a:ln>
        </p:spPr>
      </p:pic>
      <p:sp>
        <p:nvSpPr>
          <p:cNvPr id="7" name="bg object 21"/>
          <p:cNvSpPr/>
          <p:nvPr/>
        </p:nvSpPr>
        <p:spPr>
          <a:xfrm>
            <a:off x="6527800" y="190500"/>
            <a:ext cx="2076450" cy="685800"/>
          </a:xfrm>
          <a:prstGeom prst="rect">
            <a:avLst/>
          </a:prstGeom>
          <a:solidFill>
            <a:srgbClr val="FFFFFF"/>
          </a:solidFill>
          <a:ln w="12700">
            <a:miter lim="400000"/>
          </a:ln>
        </p:spPr>
        <p:txBody>
          <a:bodyPr lIns="45719" rIns="45719"/>
          <a:lstStyle/>
          <a:p>
            <a:endParaRPr/>
          </a:p>
        </p:txBody>
      </p:sp>
      <p:pic>
        <p:nvPicPr>
          <p:cNvPr id="8" name="bg object 22" descr="bg object 22"/>
          <p:cNvPicPr>
            <a:picLocks noChangeAspect="1"/>
          </p:cNvPicPr>
          <p:nvPr/>
        </p:nvPicPr>
        <p:blipFill>
          <a:blip r:embed="rId11"/>
          <a:stretch>
            <a:fillRect/>
          </a:stretch>
        </p:blipFill>
        <p:spPr>
          <a:xfrm>
            <a:off x="6553200" y="228600"/>
            <a:ext cx="1920875" cy="609600"/>
          </a:xfrm>
          <a:prstGeom prst="rect">
            <a:avLst/>
          </a:prstGeom>
          <a:ln w="12700">
            <a:miter lim="400000"/>
          </a:ln>
        </p:spPr>
      </p:pic>
      <p:sp>
        <p:nvSpPr>
          <p:cNvPr id="9" name="Title Text"/>
          <p:cNvSpPr txBox="1">
            <a:spLocks noGrp="1"/>
          </p:cNvSpPr>
          <p:nvPr>
            <p:ph type="title"/>
          </p:nvPr>
        </p:nvSpPr>
        <p:spPr>
          <a:xfrm>
            <a:off x="457200" y="274637"/>
            <a:ext cx="8229600"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10" name="Body Level One…"/>
          <p:cNvSpPr txBox="1">
            <a:spLocks noGrp="1"/>
          </p:cNvSpPr>
          <p:nvPr>
            <p:ph type="body" idx="1"/>
          </p:nvPr>
        </p:nvSpPr>
        <p:spPr>
          <a:xfrm>
            <a:off x="457200" y="1600200"/>
            <a:ext cx="82296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11" name="Slide Number"/>
          <p:cNvSpPr txBox="1">
            <a:spLocks noGrp="1"/>
          </p:cNvSpPr>
          <p:nvPr>
            <p:ph type="sldNum" sz="quarter" idx="2"/>
          </p:nvPr>
        </p:nvSpPr>
        <p:spPr>
          <a:xfrm>
            <a:off x="8419827" y="6377940"/>
            <a:ext cx="266974" cy="279401"/>
          </a:xfrm>
          <a:prstGeom prst="rect">
            <a:avLst/>
          </a:prstGeom>
          <a:ln w="12700">
            <a:miter lim="400000"/>
          </a:ln>
        </p:spPr>
        <p:txBody>
          <a:bodyPr wrap="none" lIns="0" tIns="0" rIns="0" bIns="0">
            <a:spAutoFit/>
          </a:bodyPr>
          <a:lstStyle>
            <a:lvl1pPr algn="r">
              <a:defRPr>
                <a:solidFill>
                  <a:srgbClr val="888888"/>
                </a:solidFill>
                <a:latin typeface="+mn-lt"/>
                <a:ea typeface="+mn-ea"/>
                <a:cs typeface="+mn-cs"/>
                <a:sym typeface="Helvetica"/>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1pPr>
      <a:lvl2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2pPr>
      <a:lvl3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3pPr>
      <a:lvl4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4pPr>
      <a:lvl5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5pPr>
      <a:lvl6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6pPr>
      <a:lvl7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7pPr>
      <a:lvl8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8pPr>
      <a:lvl9pPr marL="0" marR="0" indent="0" algn="l" defTabSz="914400" rtl="0" latinLnBrk="0">
        <a:lnSpc>
          <a:spcPct val="100000"/>
        </a:lnSpc>
        <a:spcBef>
          <a:spcPts val="0"/>
        </a:spcBef>
        <a:spcAft>
          <a:spcPts val="0"/>
        </a:spcAft>
        <a:buClrTx/>
        <a:buSzTx/>
        <a:buFontTx/>
        <a:buNone/>
        <a:tabLst/>
        <a:defRPr sz="3200" b="1" i="0" u="none" strike="noStrike" cap="none" spc="0" baseline="0">
          <a:solidFill>
            <a:srgbClr val="000000"/>
          </a:solidFill>
          <a:uFillTx/>
          <a:latin typeface="Times New Roman"/>
          <a:ea typeface="Times New Roman"/>
          <a:cs typeface="Times New Roman"/>
          <a:sym typeface="Times New Roman"/>
        </a:defRPr>
      </a:lvl9pPr>
    </p:titleStyle>
    <p:bodyStyle>
      <a:lvl1pPr marL="0" marR="0" indent="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1pPr>
      <a:lvl2pPr marL="0" marR="0" indent="4572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2pPr>
      <a:lvl3pPr marL="0" marR="0" indent="9144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3pPr>
      <a:lvl4pPr marL="0" marR="0" indent="13716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4pPr>
      <a:lvl5pPr marL="0" marR="0" indent="18288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5pPr>
      <a:lvl6pPr marL="0" marR="0" indent="22860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6pPr>
      <a:lvl7pPr marL="0" marR="0" indent="27432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7pPr>
      <a:lvl8pPr marL="0" marR="0" indent="32004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8pPr>
      <a:lvl9pPr marL="0" marR="0" indent="3657600" algn="l" defTabSz="914400" rtl="0" latinLnBrk="0">
        <a:lnSpc>
          <a:spcPct val="100000"/>
        </a:lnSpc>
        <a:spcBef>
          <a:spcPts val="0"/>
        </a:spcBef>
        <a:spcAft>
          <a:spcPts val="0"/>
        </a:spcAft>
        <a:buClrTx/>
        <a:buSzTx/>
        <a:buFontTx/>
        <a:buNone/>
        <a:tabLst/>
        <a:defRPr sz="2000" b="0" i="0" u="none" strike="noStrike" cap="none" spc="0" baseline="0">
          <a:solidFill>
            <a:srgbClr val="000000"/>
          </a:solidFill>
          <a:uFillTx/>
          <a:latin typeface="Times New Roman"/>
          <a:ea typeface="Times New Roman"/>
          <a:cs typeface="Times New Roman"/>
          <a:sym typeface="Times New Roman"/>
        </a:defRPr>
      </a:lvl9pPr>
    </p:bodyStyle>
    <p:otherStyle>
      <a:lvl1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45719" y="840630"/>
            <a:ext cx="9052562" cy="5671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p>
            <a:pPr algn="ctr">
              <a:spcBef>
                <a:spcPts val="400"/>
              </a:spcBef>
              <a:defRPr>
                <a:latin typeface="Times New Roman"/>
                <a:ea typeface="Times New Roman"/>
                <a:cs typeface="Times New Roman"/>
                <a:sym typeface="Times New Roman"/>
              </a:defRPr>
            </a:pPr>
            <a:r>
              <a:t>Project Presentation of Co-Op Project at Industry (Module-2) </a:t>
            </a:r>
          </a:p>
          <a:p>
            <a:pPr algn="ctr">
              <a:spcBef>
                <a:spcPts val="400"/>
              </a:spcBef>
              <a:defRPr sz="2000" spc="-1">
                <a:latin typeface="Times New Roman"/>
                <a:ea typeface="Times New Roman"/>
                <a:cs typeface="Times New Roman"/>
                <a:sym typeface="Times New Roman"/>
              </a:defRPr>
            </a:pPr>
            <a:r>
              <a:t>On</a:t>
            </a:r>
          </a:p>
          <a:p>
            <a:pPr algn="ctr">
              <a:spcBef>
                <a:spcPts val="400"/>
              </a:spcBef>
            </a:pPr>
            <a:r>
              <a:rPr lang="en-US" b="1">
                <a:ea typeface="+mj-lt"/>
                <a:cs typeface="+mj-lt"/>
              </a:rPr>
              <a:t>A Review of Artificial Intelligence Integration in Modern Software Development Practices</a:t>
            </a:r>
            <a:endParaRPr b="1"/>
          </a:p>
          <a:p>
            <a:pPr algn="ctr">
              <a:spcBef>
                <a:spcPts val="400"/>
              </a:spcBef>
              <a:defRPr sz="2000" spc="-1">
                <a:latin typeface="Times New Roman"/>
                <a:ea typeface="Times New Roman"/>
                <a:cs typeface="Times New Roman"/>
                <a:sym typeface="Times New Roman"/>
              </a:defRPr>
            </a:pPr>
            <a:r>
              <a:rPr dirty="0"/>
              <a:t> </a:t>
            </a:r>
            <a:br>
              <a:rPr dirty="0"/>
            </a:br>
            <a:r>
              <a:t>Name: Akshat Khosla, Aman Sharma, Aditya Aggarwal, Aditya Chauhan</a:t>
            </a:r>
          </a:p>
          <a:p>
            <a:pPr algn="ctr">
              <a:spcBef>
                <a:spcPts val="400"/>
              </a:spcBef>
              <a:defRPr sz="2000" spc="-1">
                <a:latin typeface="Times New Roman"/>
                <a:ea typeface="Times New Roman"/>
                <a:cs typeface="Times New Roman"/>
                <a:sym typeface="Times New Roman"/>
              </a:defRPr>
            </a:pPr>
            <a:r>
              <a:t>Roll Number.: 2210991226, 2210991248,2210991184,2210991190</a:t>
            </a:r>
          </a:p>
          <a:p>
            <a:pPr algn="ctr">
              <a:spcBef>
                <a:spcPts val="400"/>
              </a:spcBef>
              <a:defRPr sz="2000" spc="-1">
                <a:latin typeface="Times New Roman"/>
                <a:ea typeface="Times New Roman"/>
                <a:cs typeface="Times New Roman"/>
                <a:sym typeface="Times New Roman"/>
              </a:defRPr>
            </a:pPr>
            <a:endParaRPr/>
          </a:p>
          <a:p>
            <a:pPr algn="ctr">
              <a:spcBef>
                <a:spcPts val="400"/>
              </a:spcBef>
              <a:defRPr sz="2000" spc="-1">
                <a:latin typeface="Times New Roman"/>
                <a:ea typeface="Times New Roman"/>
                <a:cs typeface="Times New Roman"/>
                <a:sym typeface="Times New Roman"/>
              </a:defRPr>
            </a:pPr>
            <a:r>
              <a:t>Supervised By</a:t>
            </a:r>
          </a:p>
          <a:p>
            <a:pPr algn="ctr">
              <a:spcBef>
                <a:spcPts val="400"/>
              </a:spcBef>
              <a:defRPr sz="2000" spc="-1">
                <a:latin typeface="Times New Roman"/>
                <a:ea typeface="Times New Roman"/>
                <a:cs typeface="Times New Roman"/>
                <a:sym typeface="Times New Roman"/>
              </a:defRPr>
            </a:pPr>
            <a:r>
              <a:t>&lt;Dr. Shikha Tuteja&gt;</a:t>
            </a:r>
          </a:p>
          <a:p>
            <a:pPr algn="ctr">
              <a:spcBef>
                <a:spcPts val="400"/>
              </a:spcBef>
              <a:defRPr sz="2000" spc="-1">
                <a:latin typeface="Times New Roman"/>
                <a:ea typeface="Times New Roman"/>
                <a:cs typeface="Times New Roman"/>
                <a:sym typeface="Times New Roman"/>
              </a:defRPr>
            </a:pPr>
            <a:endParaRPr/>
          </a:p>
          <a:p>
            <a:pPr algn="ctr">
              <a:spcBef>
                <a:spcPts val="400"/>
              </a:spcBef>
              <a:defRPr sz="2000" spc="-1">
                <a:latin typeface="Times New Roman"/>
                <a:ea typeface="Times New Roman"/>
                <a:cs typeface="Times New Roman"/>
                <a:sym typeface="Times New Roman"/>
              </a:defRPr>
            </a:pPr>
            <a:endParaRPr/>
          </a:p>
          <a:p>
            <a:pPr algn="ctr">
              <a:spcBef>
                <a:spcPts val="400"/>
              </a:spcBef>
              <a:defRPr sz="2000" spc="-1">
                <a:latin typeface="Times New Roman"/>
                <a:ea typeface="Times New Roman"/>
                <a:cs typeface="Times New Roman"/>
                <a:sym typeface="Times New Roman"/>
              </a:defRPr>
            </a:pPr>
            <a:endParaRPr/>
          </a:p>
          <a:p>
            <a:pPr algn="ctr">
              <a:spcBef>
                <a:spcPts val="400"/>
              </a:spcBef>
              <a:defRPr sz="2400" spc="-1">
                <a:latin typeface="Times New Roman"/>
                <a:ea typeface="Times New Roman"/>
                <a:cs typeface="Times New Roman"/>
                <a:sym typeface="Times New Roman"/>
              </a:defRPr>
            </a:pPr>
            <a:r>
              <a:t>Department of Computer Science and Engineering, </a:t>
            </a:r>
          </a:p>
          <a:p>
            <a:pPr algn="ctr">
              <a:spcBef>
                <a:spcPts val="400"/>
              </a:spcBef>
              <a:defRPr sz="2400" spc="-1">
                <a:latin typeface="Times New Roman"/>
                <a:ea typeface="Times New Roman"/>
                <a:cs typeface="Times New Roman"/>
                <a:sym typeface="Times New Roman"/>
              </a:defRPr>
            </a:pPr>
            <a:r>
              <a:t>Chitkara University, Punjab</a:t>
            </a:r>
          </a:p>
          <a:p>
            <a:pPr algn="ctr">
              <a:lnSpc>
                <a:spcPct val="150000"/>
              </a:lnSpc>
              <a:spcBef>
                <a:spcPts val="400"/>
              </a:spcBef>
              <a:defRPr sz="2000" spc="-1"/>
            </a:pPr>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object 2"/>
          <p:cNvSpPr txBox="1">
            <a:spLocks noGrp="1"/>
          </p:cNvSpPr>
          <p:nvPr>
            <p:ph type="title"/>
          </p:nvPr>
        </p:nvSpPr>
        <p:spPr>
          <a:xfrm>
            <a:off x="78738" y="186638"/>
            <a:ext cx="4778376" cy="607239"/>
          </a:xfrm>
          <a:prstGeom prst="rect">
            <a:avLst/>
          </a:prstGeom>
        </p:spPr>
        <p:txBody>
          <a:bodyPr/>
          <a:lstStyle/>
          <a:p>
            <a:pPr indent="335915">
              <a:spcBef>
                <a:spcPts val="100"/>
              </a:spcBef>
              <a:defRPr spc="-100"/>
            </a:pPr>
            <a:r>
              <a:t>Table </a:t>
            </a:r>
            <a:r>
              <a:rPr spc="0"/>
              <a:t>of</a:t>
            </a:r>
            <a:r>
              <a:t> Content</a:t>
            </a:r>
          </a:p>
        </p:txBody>
      </p:sp>
      <p:sp>
        <p:nvSpPr>
          <p:cNvPr id="93" name="object 3"/>
          <p:cNvSpPr txBox="1"/>
          <p:nvPr/>
        </p:nvSpPr>
        <p:spPr>
          <a:xfrm>
            <a:off x="380999" y="1031707"/>
            <a:ext cx="3383917" cy="47390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431165" indent="-418465">
              <a:spcBef>
                <a:spcPts val="100"/>
              </a:spcBef>
              <a:buSzPct val="120000"/>
              <a:buChar char="▪"/>
              <a:tabLst>
                <a:tab pos="419100" algn="l"/>
              </a:tabLst>
              <a:defRPr sz="2000" spc="-9">
                <a:latin typeface="Times New Roman"/>
                <a:ea typeface="Times New Roman"/>
                <a:cs typeface="Times New Roman"/>
                <a:sym typeface="Times New Roman"/>
              </a:defRPr>
            </a:pPr>
            <a:r>
              <a:t>Introduction</a:t>
            </a:r>
          </a:p>
          <a:p>
            <a:pPr>
              <a:spcBef>
                <a:spcPts val="100"/>
              </a:spcBef>
              <a:buSzPct val="100000"/>
              <a:buChar char="▪"/>
              <a:defRPr sz="2000">
                <a:latin typeface="Times New Roman"/>
                <a:ea typeface="Times New Roman"/>
                <a:cs typeface="Times New Roman"/>
                <a:sym typeface="Times New Roman"/>
              </a:defRPr>
            </a:pPr>
            <a:endParaRPr/>
          </a:p>
          <a:p>
            <a:pPr marL="419100" indent="-406400">
              <a:buSzPct val="100000"/>
              <a:buChar char="▪"/>
              <a:tabLst>
                <a:tab pos="419100" algn="l"/>
              </a:tabLst>
              <a:defRPr sz="2000">
                <a:latin typeface="Times New Roman"/>
                <a:ea typeface="Times New Roman"/>
                <a:cs typeface="Times New Roman"/>
                <a:sym typeface="Times New Roman"/>
              </a:defRPr>
            </a:pPr>
            <a:r>
              <a:t>Problem</a:t>
            </a:r>
            <a:r>
              <a:rPr spc="-45"/>
              <a:t> </a:t>
            </a:r>
            <a:r>
              <a:rPr spc="-9"/>
              <a:t>Statement</a:t>
            </a:r>
          </a:p>
          <a:p>
            <a:pPr marL="419100" indent="-406400">
              <a:buSzPct val="100000"/>
              <a:buChar char="▪"/>
              <a:tabLst>
                <a:tab pos="419100" algn="l"/>
              </a:tabLst>
              <a:defRPr sz="2000" spc="-9">
                <a:latin typeface="Times New Roman"/>
                <a:ea typeface="Times New Roman"/>
                <a:cs typeface="Times New Roman"/>
                <a:sym typeface="Times New Roman"/>
              </a:defRPr>
            </a:pPr>
            <a:endParaRPr spc="-9"/>
          </a:p>
          <a:p>
            <a:pPr marL="419100" indent="-406400">
              <a:buSzPct val="100000"/>
              <a:buChar char="▪"/>
              <a:tabLst>
                <a:tab pos="419100" algn="l"/>
              </a:tabLst>
              <a:defRPr sz="2000" spc="-9">
                <a:latin typeface="Times New Roman"/>
                <a:ea typeface="Times New Roman"/>
                <a:cs typeface="Times New Roman"/>
                <a:sym typeface="Times New Roman"/>
              </a:defRPr>
            </a:pPr>
            <a:r>
              <a:t>Methodology</a:t>
            </a:r>
          </a:p>
          <a:p>
            <a:pPr>
              <a:spcBef>
                <a:spcPts val="100"/>
              </a:spcBef>
              <a:buSzPct val="100000"/>
              <a:buChar char="▪"/>
              <a:defRPr sz="2000">
                <a:latin typeface="Times New Roman"/>
                <a:ea typeface="Times New Roman"/>
                <a:cs typeface="Times New Roman"/>
                <a:sym typeface="Times New Roman"/>
              </a:defRPr>
            </a:pPr>
            <a:endParaRPr/>
          </a:p>
          <a:p>
            <a:pPr marL="354965" indent="-342265">
              <a:buSzPct val="100000"/>
              <a:buChar char="▪"/>
              <a:tabLst>
                <a:tab pos="342900" algn="l"/>
              </a:tabLst>
              <a:defRPr sz="2000" spc="-9">
                <a:latin typeface="Times New Roman"/>
                <a:ea typeface="Times New Roman"/>
                <a:cs typeface="Times New Roman"/>
                <a:sym typeface="Times New Roman"/>
              </a:defRPr>
            </a:pPr>
            <a:r>
              <a:t>Tools and Technologies</a:t>
            </a:r>
          </a:p>
          <a:p>
            <a:pPr marL="354965" indent="-342265">
              <a:buSzPct val="100000"/>
              <a:buChar char="▪"/>
              <a:tabLst>
                <a:tab pos="342900" algn="l"/>
              </a:tabLst>
              <a:defRPr sz="2000" spc="-9">
                <a:latin typeface="Times New Roman"/>
                <a:ea typeface="Times New Roman"/>
                <a:cs typeface="Times New Roman"/>
                <a:sym typeface="Times New Roman"/>
              </a:defRPr>
            </a:pPr>
            <a:endParaRPr/>
          </a:p>
          <a:p>
            <a:pPr marL="354965" indent="-342265">
              <a:buSzPct val="100000"/>
              <a:buChar char="▪"/>
              <a:tabLst>
                <a:tab pos="342900" algn="l"/>
              </a:tabLst>
              <a:defRPr sz="2000" spc="-9">
                <a:latin typeface="Times New Roman"/>
                <a:ea typeface="Times New Roman"/>
                <a:cs typeface="Times New Roman"/>
                <a:sym typeface="Times New Roman"/>
              </a:defRPr>
            </a:pPr>
            <a:r>
              <a:t>Findings and Outcomes</a:t>
            </a:r>
          </a:p>
          <a:p>
            <a:pPr>
              <a:spcBef>
                <a:spcPts val="100"/>
              </a:spcBef>
              <a:defRPr sz="2000">
                <a:latin typeface="Times New Roman"/>
                <a:ea typeface="Times New Roman"/>
                <a:cs typeface="Times New Roman"/>
                <a:sym typeface="Times New Roman"/>
              </a:defRPr>
            </a:pPr>
            <a:endParaRPr/>
          </a:p>
          <a:p>
            <a:pPr marL="354965" indent="-342265">
              <a:buSzPct val="100000"/>
              <a:buChar char="▪"/>
              <a:tabLst>
                <a:tab pos="342900" algn="l"/>
              </a:tabLst>
              <a:defRPr sz="2000">
                <a:latin typeface="Times New Roman"/>
                <a:ea typeface="Times New Roman"/>
                <a:cs typeface="Times New Roman"/>
                <a:sym typeface="Times New Roman"/>
              </a:defRPr>
            </a:pPr>
            <a:r>
              <a:t>Code</a:t>
            </a:r>
            <a:r>
              <a:rPr spc="-4"/>
              <a:t> </a:t>
            </a:r>
            <a:r>
              <a:rPr spc="-9"/>
              <a:t>Snippets</a:t>
            </a:r>
          </a:p>
          <a:p>
            <a:pPr>
              <a:spcBef>
                <a:spcPts val="100"/>
              </a:spcBef>
              <a:buSzPct val="100000"/>
              <a:buChar char="▪"/>
              <a:defRPr sz="2000">
                <a:latin typeface="Times New Roman"/>
                <a:ea typeface="Times New Roman"/>
                <a:cs typeface="Times New Roman"/>
                <a:sym typeface="Times New Roman"/>
              </a:defRPr>
            </a:pPr>
            <a:endParaRPr spc="-9"/>
          </a:p>
          <a:p>
            <a:pPr marL="419100" indent="-406400">
              <a:buSzPct val="100000"/>
              <a:buChar char="▪"/>
              <a:tabLst>
                <a:tab pos="419100" algn="l"/>
              </a:tabLst>
              <a:defRPr sz="2000" spc="-9">
                <a:latin typeface="Times New Roman"/>
                <a:ea typeface="Times New Roman"/>
                <a:cs typeface="Times New Roman"/>
                <a:sym typeface="Times New Roman"/>
              </a:defRPr>
            </a:pPr>
            <a:r>
              <a:t>Conclusion and Future Scope</a:t>
            </a:r>
          </a:p>
          <a:p>
            <a:pPr>
              <a:spcBef>
                <a:spcPts val="100"/>
              </a:spcBef>
              <a:buSzPct val="100000"/>
              <a:buChar char="▪"/>
              <a:defRPr sz="2000">
                <a:latin typeface="Times New Roman"/>
                <a:ea typeface="Times New Roman"/>
                <a:cs typeface="Times New Roman"/>
                <a:sym typeface="Times New Roman"/>
              </a:defRPr>
            </a:pPr>
            <a:endParaRPr/>
          </a:p>
          <a:p>
            <a:pPr marL="419100" indent="-406400">
              <a:buSzPct val="100000"/>
              <a:buChar char="▪"/>
              <a:tabLst>
                <a:tab pos="419100" algn="l"/>
              </a:tabLst>
              <a:defRPr sz="2000">
                <a:latin typeface="Times New Roman"/>
                <a:ea typeface="Times New Roman"/>
                <a:cs typeface="Times New Roman"/>
                <a:sym typeface="Times New Roman"/>
              </a:defRPr>
            </a:pPr>
            <a:r>
              <a:t>References/Links</a:t>
            </a:r>
            <a:r>
              <a:rPr spc="-70"/>
              <a:t> </a:t>
            </a:r>
            <a:r>
              <a:rPr spc="-19"/>
              <a:t>used</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object 2"/>
          <p:cNvSpPr txBox="1">
            <a:spLocks noGrp="1"/>
          </p:cNvSpPr>
          <p:nvPr>
            <p:ph type="title"/>
          </p:nvPr>
        </p:nvSpPr>
        <p:spPr>
          <a:xfrm>
            <a:off x="78738" y="186638"/>
            <a:ext cx="4778376" cy="505908"/>
          </a:xfrm>
          <a:prstGeom prst="rect">
            <a:avLst/>
          </a:prstGeom>
        </p:spPr>
        <p:txBody>
          <a:bodyPr/>
          <a:lstStyle>
            <a:lvl1pPr indent="12700">
              <a:spcBef>
                <a:spcPts val="100"/>
              </a:spcBef>
              <a:defRPr spc="-100"/>
            </a:lvl1pPr>
          </a:lstStyle>
          <a:p>
            <a:r>
              <a:t>Introduction</a:t>
            </a:r>
          </a:p>
        </p:txBody>
      </p:sp>
      <p:sp>
        <p:nvSpPr>
          <p:cNvPr id="96" name="object 3"/>
          <p:cNvSpPr txBox="1"/>
          <p:nvPr/>
        </p:nvSpPr>
        <p:spPr>
          <a:xfrm>
            <a:off x="304800" y="1003300"/>
            <a:ext cx="8136229" cy="4654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98450" marR="59055" indent="-285750">
              <a:lnSpc>
                <a:spcPct val="150000"/>
              </a:lnSpc>
              <a:spcBef>
                <a:spcPts val="100"/>
              </a:spcBef>
              <a:buSzPct val="100000"/>
              <a:buFont typeface="Arial"/>
              <a:buChar char="•"/>
              <a:tabLst>
                <a:tab pos="355600" algn="l"/>
              </a:tabLst>
              <a:defRPr>
                <a:latin typeface="Times New Roman"/>
                <a:ea typeface="Times New Roman"/>
                <a:cs typeface="Times New Roman"/>
                <a:sym typeface="Times New Roman"/>
              </a:defRPr>
            </a:pPr>
            <a:r>
              <a:t>Advancements in Artificial Intelligence (AI) have significantly transformed modern software development practices. Unlike traditional development, AI-powered tools such as GitHub Copilot and Amazon Q Developer actively assist developers in coding, testing, debugging, and improving productivity throughout the software development lifecycle.</a:t>
            </a:r>
          </a:p>
          <a:p>
            <a:pPr marR="59055" indent="12700">
              <a:lnSpc>
                <a:spcPct val="150000"/>
              </a:lnSpc>
              <a:spcBef>
                <a:spcPts val="100"/>
              </a:spcBef>
              <a:tabLst>
                <a:tab pos="355600" algn="l"/>
              </a:tabLst>
              <a:defRPr>
                <a:latin typeface="Times New Roman"/>
                <a:ea typeface="Times New Roman"/>
                <a:cs typeface="Times New Roman"/>
                <a:sym typeface="Times New Roman"/>
              </a:defRPr>
            </a:pPr>
            <a:endParaRPr/>
          </a:p>
          <a:p>
            <a:pPr marL="298450" marR="59055" indent="-285750">
              <a:lnSpc>
                <a:spcPct val="150000"/>
              </a:lnSpc>
              <a:spcBef>
                <a:spcPts val="100"/>
              </a:spcBef>
              <a:buSzPct val="100000"/>
              <a:buFont typeface="Arial"/>
              <a:buChar char="•"/>
              <a:tabLst>
                <a:tab pos="355600" algn="l"/>
              </a:tabLst>
              <a:defRPr>
                <a:latin typeface="Times New Roman"/>
                <a:ea typeface="Times New Roman"/>
                <a:cs typeface="Times New Roman"/>
                <a:sym typeface="Times New Roman"/>
              </a:defRPr>
            </a:pPr>
            <a:r>
              <a:t>However, this transformation also introduces challenges such as security risks, lack of transparency, and overdependence on AI-generated code. This research explores both the benefits and challenges of AI integration in software development using a data-driven approach.</a:t>
            </a:r>
          </a:p>
          <a:p>
            <a:pPr marL="298450" marR="59055" indent="-285750">
              <a:lnSpc>
                <a:spcPct val="150000"/>
              </a:lnSpc>
              <a:spcBef>
                <a:spcPts val="100"/>
              </a:spcBef>
              <a:buSzPct val="100000"/>
              <a:buFont typeface="Arial"/>
              <a:buChar char="•"/>
              <a:tabLst>
                <a:tab pos="355600" algn="l"/>
              </a:tabLst>
              <a:defRPr>
                <a:latin typeface="Times New Roman"/>
                <a:ea typeface="Times New Roman"/>
                <a:cs typeface="Times New Roman"/>
                <a:sym typeface="Times New Roman"/>
              </a:defRPr>
            </a:pPr>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object 2"/>
          <p:cNvSpPr txBox="1">
            <a:spLocks noGrp="1"/>
          </p:cNvSpPr>
          <p:nvPr>
            <p:ph type="title"/>
          </p:nvPr>
        </p:nvSpPr>
        <p:spPr>
          <a:xfrm>
            <a:off x="78738" y="186638"/>
            <a:ext cx="4778376" cy="607239"/>
          </a:xfrm>
          <a:prstGeom prst="rect">
            <a:avLst/>
          </a:prstGeom>
        </p:spPr>
        <p:txBody>
          <a:bodyPr/>
          <a:lstStyle/>
          <a:p>
            <a:pPr indent="264159">
              <a:spcBef>
                <a:spcPts val="100"/>
              </a:spcBef>
            </a:pPr>
            <a:r>
              <a:t>Problem</a:t>
            </a:r>
            <a:r>
              <a:rPr spc="-100"/>
              <a:t> Statement</a:t>
            </a:r>
          </a:p>
        </p:txBody>
      </p:sp>
      <p:sp>
        <p:nvSpPr>
          <p:cNvPr id="99" name="object 3"/>
          <p:cNvSpPr txBox="1"/>
          <p:nvPr/>
        </p:nvSpPr>
        <p:spPr>
          <a:xfrm>
            <a:off x="330199" y="1162176"/>
            <a:ext cx="8287386" cy="50946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a:latin typeface="Times New Roman"/>
                <a:ea typeface="Times New Roman"/>
                <a:cs typeface="Times New Roman"/>
                <a:sym typeface="Times New Roman"/>
              </a:defRPr>
            </a:pPr>
            <a:r>
              <a:t>Traditional software development relies on manual coding, testing, and debugging processes. However, with the rise of AI-powered development tools, developers increasingly depend on intelligent systems for code generation and automation. This shift introduces new challenges such as security risks, lack of transparency, and overdependence on AI-generated solutions.</a:t>
            </a:r>
          </a:p>
          <a:p>
            <a:pPr>
              <a:defRPr>
                <a:latin typeface="Times New Roman"/>
                <a:ea typeface="Times New Roman"/>
                <a:cs typeface="Times New Roman"/>
                <a:sym typeface="Times New Roman"/>
              </a:defRPr>
            </a:pPr>
            <a:endParaRPr/>
          </a:p>
          <a:p>
            <a:pPr>
              <a:defRPr>
                <a:latin typeface="Times New Roman"/>
                <a:ea typeface="Times New Roman"/>
                <a:cs typeface="Times New Roman"/>
                <a:sym typeface="Times New Roman"/>
              </a:defRPr>
            </a:pPr>
            <a:r>
              <a:t>When AI-powered development tools generate incorrect code, behave inconsistently, or produce unclear solutions, developers experience confusion and reliability concerns. Unlike traditional development methods, AI systems often do not fully explain their logic, making it difficult for developers to understand the generated output. This lack of transparency can lead to security risks, reduced trust, and overdependence on AI-generated solutions.</a:t>
            </a:r>
          </a:p>
          <a:p>
            <a:pPr>
              <a:defRPr>
                <a:latin typeface="Times New Roman"/>
                <a:ea typeface="Times New Roman"/>
                <a:cs typeface="Times New Roman"/>
                <a:sym typeface="Times New Roman"/>
              </a:defRPr>
            </a:pPr>
            <a:endParaRPr/>
          </a:p>
          <a:p>
            <a:pPr>
              <a:defRPr>
                <a:latin typeface="Times New Roman"/>
                <a:ea typeface="Times New Roman"/>
                <a:cs typeface="Times New Roman"/>
                <a:sym typeface="Times New Roman"/>
              </a:defRPr>
            </a:pPr>
            <a:r>
              <a:t>AI-powered development tools offer efficiency and automation in software development. However, limited research focuses on challenges such as security risks, transparency issues, and dependency on AI-generated code. Therefore, this study analyzes the impact of AI integration on coding, testing, debugging, and overall developer productivity using a data-driven approach.</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object 2"/>
          <p:cNvSpPr txBox="1">
            <a:spLocks noGrp="1"/>
          </p:cNvSpPr>
          <p:nvPr>
            <p:ph type="title"/>
          </p:nvPr>
        </p:nvSpPr>
        <p:spPr>
          <a:xfrm>
            <a:off x="78738" y="186638"/>
            <a:ext cx="4778376" cy="599703"/>
          </a:xfrm>
          <a:prstGeom prst="rect">
            <a:avLst/>
          </a:prstGeom>
        </p:spPr>
        <p:txBody>
          <a:bodyPr/>
          <a:lstStyle>
            <a:lvl1pPr indent="264159">
              <a:spcBef>
                <a:spcPts val="100"/>
              </a:spcBef>
              <a:defRPr spc="-100"/>
            </a:lvl1pPr>
          </a:lstStyle>
          <a:p>
            <a:r>
              <a:t>Methodology</a:t>
            </a:r>
          </a:p>
        </p:txBody>
      </p:sp>
      <p:sp>
        <p:nvSpPr>
          <p:cNvPr id="102" name="object 3"/>
          <p:cNvSpPr txBox="1"/>
          <p:nvPr/>
        </p:nvSpPr>
        <p:spPr>
          <a:xfrm>
            <a:off x="306424" y="1122553"/>
            <a:ext cx="8151777" cy="34573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tabLst>
                <a:tab pos="355600" algn="l"/>
              </a:tabLst>
              <a:defRPr>
                <a:latin typeface="Times New Roman"/>
                <a:ea typeface="Times New Roman"/>
                <a:cs typeface="Times New Roman"/>
                <a:sym typeface="Times New Roman"/>
              </a:defRPr>
            </a:pPr>
            <a:r>
              <a:t>The research adopts a data-driven methodology to analyze the integration of Artificial Intelligence in modern software development practices. The study focuses on how AI-powered tools assist developers in coding, testing, debugging, and improving overall productivity. A comparative research approach was used, where different AI development tools and real-world software development practices were analyzed to evaluate their efficiency, accuracy, and impact on software development processes.</a:t>
            </a:r>
          </a:p>
          <a:p>
            <a:pPr marR="5080" indent="12064">
              <a:tabLst>
                <a:tab pos="355600" algn="l"/>
              </a:tabLst>
              <a:defRPr>
                <a:latin typeface="Times New Roman"/>
                <a:ea typeface="Times New Roman"/>
                <a:cs typeface="Times New Roman"/>
                <a:sym typeface="Times New Roman"/>
              </a:defRPr>
            </a:pPr>
            <a:endParaRPr/>
          </a:p>
          <a:p>
            <a:pPr marR="5080" indent="12064">
              <a:tabLst>
                <a:tab pos="355600" algn="l"/>
              </a:tabLst>
              <a:defRPr>
                <a:latin typeface="Times New Roman"/>
                <a:ea typeface="Times New Roman"/>
                <a:cs typeface="Times New Roman"/>
                <a:sym typeface="Times New Roman"/>
              </a:defRPr>
            </a:pPr>
            <a:endParaRPr/>
          </a:p>
          <a:p>
            <a:pPr marR="5080" indent="12064">
              <a:tabLst>
                <a:tab pos="355600" algn="l"/>
              </a:tabLst>
              <a:defRPr>
                <a:latin typeface="Times New Roman"/>
                <a:ea typeface="Times New Roman"/>
                <a:cs typeface="Times New Roman"/>
                <a:sym typeface="Times New Roman"/>
              </a:defRPr>
            </a:pPr>
            <a:r>
              <a:t>For data collection, information was gathered from research papers, industry reports, and real-world case studies related to AI-powered software development tools. The study analyzed coding efficiency, testing speed, debugging performance, and developer productivity to understand the overall impact of AI integration in modern software development practices.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object 2"/>
          <p:cNvSpPr txBox="1">
            <a:spLocks noGrp="1"/>
          </p:cNvSpPr>
          <p:nvPr>
            <p:ph type="title"/>
          </p:nvPr>
        </p:nvSpPr>
        <p:spPr>
          <a:xfrm>
            <a:off x="78738" y="186638"/>
            <a:ext cx="4778376" cy="607239"/>
          </a:xfrm>
          <a:prstGeom prst="rect">
            <a:avLst/>
          </a:prstGeom>
        </p:spPr>
        <p:txBody>
          <a:bodyPr/>
          <a:lstStyle/>
          <a:p>
            <a:pPr indent="264159">
              <a:spcBef>
                <a:spcPts val="100"/>
              </a:spcBef>
              <a:defRPr spc="-100"/>
            </a:pPr>
            <a:r>
              <a:t>Tools and Technologies</a:t>
            </a:r>
          </a:p>
        </p:txBody>
      </p:sp>
      <p:sp>
        <p:nvSpPr>
          <p:cNvPr id="105" name="object 3"/>
          <p:cNvSpPr txBox="1"/>
          <p:nvPr/>
        </p:nvSpPr>
        <p:spPr>
          <a:xfrm>
            <a:off x="330200" y="1163064"/>
            <a:ext cx="8296275" cy="31906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85750" indent="-285750">
              <a:buSzPct val="100000"/>
              <a:buFont typeface="Arial"/>
              <a:buChar char="•"/>
              <a:defRPr b="1">
                <a:latin typeface="Times New Roman"/>
                <a:ea typeface="Times New Roman"/>
                <a:cs typeface="Times New Roman"/>
                <a:sym typeface="Times New Roman"/>
              </a:defRPr>
            </a:pPr>
            <a:r>
              <a:t>Research Setting:</a:t>
            </a:r>
            <a:r>
              <a:rPr b="0"/>
              <a:t> </a:t>
            </a:r>
            <a:r>
              <a:t>AI-powered softwa</a:t>
            </a:r>
            <a:r>
              <a:rPr b="0"/>
              <a:t>re development</a:t>
            </a:r>
            <a:r>
              <a:t> environment</a:t>
            </a:r>
            <a:r>
              <a:rPr b="0"/>
              <a:t> </a:t>
            </a:r>
          </a:p>
          <a:p>
            <a:pPr>
              <a:defRPr>
                <a:latin typeface="Times New Roman"/>
                <a:ea typeface="Times New Roman"/>
                <a:cs typeface="Times New Roman"/>
                <a:sym typeface="Times New Roman"/>
              </a:defRPr>
            </a:pPr>
            <a:endParaRPr b="0"/>
          </a:p>
          <a:p>
            <a:pPr marL="285750" indent="-285750">
              <a:buSzPct val="100000"/>
              <a:buFont typeface="Arial"/>
              <a:buChar char="•"/>
              <a:defRPr b="1">
                <a:latin typeface="Times New Roman"/>
                <a:ea typeface="Times New Roman"/>
                <a:cs typeface="Times New Roman"/>
                <a:sym typeface="Times New Roman"/>
              </a:defRPr>
            </a:pPr>
            <a:r>
              <a:t>Participants:</a:t>
            </a:r>
            <a:r>
              <a:rPr b="0"/>
              <a:t> </a:t>
            </a:r>
            <a:r>
              <a:t>Developers using AI-based coding tools</a:t>
            </a:r>
          </a:p>
          <a:p>
            <a:pPr>
              <a:defRPr>
                <a:latin typeface="Times New Roman"/>
                <a:ea typeface="Times New Roman"/>
                <a:cs typeface="Times New Roman"/>
                <a:sym typeface="Times New Roman"/>
              </a:defRPr>
            </a:pPr>
            <a:endParaRPr/>
          </a:p>
          <a:p>
            <a:pPr marL="285750" indent="-285750">
              <a:buSzPct val="100000"/>
              <a:buFont typeface="Arial"/>
              <a:buChar char="•"/>
              <a:defRPr b="1">
                <a:latin typeface="Times New Roman"/>
                <a:ea typeface="Times New Roman"/>
                <a:cs typeface="Times New Roman"/>
                <a:sym typeface="Times New Roman"/>
              </a:defRPr>
            </a:pPr>
            <a:r>
              <a:t>Interaction Medium:</a:t>
            </a:r>
            <a:r>
              <a:rPr b="0"/>
              <a:t> </a:t>
            </a:r>
            <a:r>
              <a:t>GitHub Copilot, Amazon Q Developer, Tabnine</a:t>
            </a:r>
          </a:p>
          <a:p>
            <a:pPr marL="285750" indent="-285750">
              <a:buSzPct val="100000"/>
              <a:buFont typeface="Arial"/>
              <a:buChar char="•"/>
              <a:defRPr>
                <a:latin typeface="Times New Roman"/>
                <a:ea typeface="Times New Roman"/>
                <a:cs typeface="Times New Roman"/>
                <a:sym typeface="Times New Roman"/>
              </a:defRPr>
            </a:pPr>
            <a:endParaRPr/>
          </a:p>
          <a:p>
            <a:pPr marL="285750" indent="-285750">
              <a:buSzPct val="100000"/>
              <a:buFont typeface="Arial"/>
              <a:buChar char="•"/>
              <a:defRPr b="1">
                <a:latin typeface="Times New Roman"/>
                <a:ea typeface="Times New Roman"/>
                <a:cs typeface="Times New Roman"/>
                <a:sym typeface="Times New Roman"/>
              </a:defRPr>
            </a:pPr>
            <a:r>
              <a:t>Data Collected:</a:t>
            </a:r>
            <a:r>
              <a:rPr b="0"/>
              <a:t> </a:t>
            </a:r>
            <a:r>
              <a:t>Research papers, industry reports, and case studies</a:t>
            </a:r>
          </a:p>
          <a:p>
            <a:pPr marL="285750" indent="-285750">
              <a:buSzPct val="100000"/>
              <a:buFont typeface="Arial"/>
              <a:buChar char="•"/>
              <a:defRPr>
                <a:latin typeface="Times New Roman"/>
                <a:ea typeface="Times New Roman"/>
                <a:cs typeface="Times New Roman"/>
                <a:sym typeface="Times New Roman"/>
              </a:defRPr>
            </a:pPr>
            <a:endParaRPr/>
          </a:p>
          <a:p>
            <a:pPr marL="285750" indent="-285750">
              <a:buSzPct val="100000"/>
              <a:buFont typeface="Arial"/>
              <a:buChar char="•"/>
              <a:defRPr b="1">
                <a:latin typeface="Times New Roman"/>
                <a:ea typeface="Times New Roman"/>
                <a:cs typeface="Times New Roman"/>
                <a:sym typeface="Times New Roman"/>
              </a:defRPr>
            </a:pPr>
            <a:r>
              <a:t> Approach Used:</a:t>
            </a:r>
            <a:r>
              <a:rPr b="0"/>
              <a:t> </a:t>
            </a:r>
            <a:r>
              <a:t>Comparative and data-driven analysis</a:t>
            </a:r>
          </a:p>
          <a:p>
            <a:pPr marL="285750" indent="-285750">
              <a:buSzPct val="100000"/>
              <a:buFont typeface="Arial"/>
              <a:buChar char="•"/>
              <a:defRPr b="1">
                <a:latin typeface="Times New Roman"/>
                <a:ea typeface="Times New Roman"/>
                <a:cs typeface="Times New Roman"/>
                <a:sym typeface="Times New Roman"/>
              </a:defRPr>
            </a:pPr>
            <a:endParaRPr/>
          </a:p>
          <a:p>
            <a:pPr marL="285750" indent="-285750">
              <a:buSzPct val="100000"/>
              <a:buFont typeface="Arial"/>
              <a:buChar char="•"/>
              <a:defRPr b="1">
                <a:latin typeface="Times New Roman"/>
                <a:ea typeface="Times New Roman"/>
                <a:cs typeface="Times New Roman"/>
                <a:sym typeface="Times New Roman"/>
              </a:defRPr>
            </a:pPr>
            <a:r>
              <a:t>Analysis Method:</a:t>
            </a:r>
            <a:r>
              <a:rPr b="0"/>
              <a:t> </a:t>
            </a:r>
            <a:r>
              <a:t>Evaluation of coding efficiency, testing, debugging, and productivity improvements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object 2"/>
          <p:cNvSpPr txBox="1">
            <a:spLocks noGrp="1"/>
          </p:cNvSpPr>
          <p:nvPr>
            <p:ph type="title"/>
          </p:nvPr>
        </p:nvSpPr>
        <p:spPr>
          <a:xfrm>
            <a:off x="78738" y="186638"/>
            <a:ext cx="4778376" cy="607239"/>
          </a:xfrm>
          <a:prstGeom prst="rect">
            <a:avLst/>
          </a:prstGeom>
        </p:spPr>
        <p:txBody>
          <a:bodyPr/>
          <a:lstStyle>
            <a:lvl1pPr indent="264159">
              <a:spcBef>
                <a:spcPts val="100"/>
              </a:spcBef>
              <a:defRPr spc="-100"/>
            </a:lvl1pPr>
          </a:lstStyle>
          <a:p>
            <a:r>
              <a:t>Finding and Outcomes</a:t>
            </a:r>
          </a:p>
        </p:txBody>
      </p:sp>
      <p:sp>
        <p:nvSpPr>
          <p:cNvPr id="108" name="TextBox 6"/>
          <p:cNvSpPr txBox="1"/>
          <p:nvPr/>
        </p:nvSpPr>
        <p:spPr>
          <a:xfrm>
            <a:off x="426719" y="1066800"/>
            <a:ext cx="7985762" cy="4348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r>
              <a:t>The findings of this study show that Artificial Intelligence has significantly improved modern software development practices. AI-powered tools help developers increase coding speed, improve testing, reduce debugging time, and enhance overall productivity.</a:t>
            </a:r>
          </a:p>
          <a:p>
            <a:pPr algn="just">
              <a:defRPr>
                <a:latin typeface="Times New Roman"/>
                <a:ea typeface="Times New Roman"/>
                <a:cs typeface="Times New Roman"/>
                <a:sym typeface="Times New Roman"/>
              </a:defRPr>
            </a:pPr>
            <a:endParaRPr/>
          </a:p>
          <a:p>
            <a:pPr algn="just">
              <a:defRPr>
                <a:latin typeface="Times New Roman"/>
                <a:ea typeface="Times New Roman"/>
                <a:cs typeface="Times New Roman"/>
                <a:sym typeface="Times New Roman"/>
              </a:defRPr>
            </a:pPr>
            <a:r>
              <a:t>The analysis shows that developers increasingly depend on AI-powered tools for coding, testing, and debugging tasks. While these tools improve efficiency and productivity, excessive dependence on AI-generated solutions may reduce problem-solving skills and create reliability concerns in software development.</a:t>
            </a:r>
          </a:p>
          <a:p>
            <a:pPr algn="just">
              <a:defRPr>
                <a:latin typeface="Times New Roman"/>
                <a:ea typeface="Times New Roman"/>
                <a:cs typeface="Times New Roman"/>
                <a:sym typeface="Times New Roman"/>
              </a:defRPr>
            </a:pPr>
            <a:endParaRPr/>
          </a:p>
          <a:p>
            <a:pPr algn="just">
              <a:defRPr>
                <a:latin typeface="Times New Roman"/>
                <a:ea typeface="Times New Roman"/>
                <a:cs typeface="Times New Roman"/>
                <a:sym typeface="Times New Roman"/>
              </a:defRPr>
            </a:pPr>
            <a:r>
              <a:t>In addition, the study reveals that increasing reliance on AI tools is changing modern software development practices. While AI improves coding efficiency and productivity, challenges such as security risks, lack of transparency, and overdependence on AI-generated code still remain. Overall, the findings confirm that AI has become an important part of modern software development, but it should assist developers rather than replace them completely.</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object 2"/>
          <p:cNvSpPr txBox="1">
            <a:spLocks noGrp="1"/>
          </p:cNvSpPr>
          <p:nvPr>
            <p:ph type="title"/>
          </p:nvPr>
        </p:nvSpPr>
        <p:spPr>
          <a:xfrm>
            <a:off x="78738" y="186638"/>
            <a:ext cx="4778376" cy="607238"/>
          </a:xfrm>
          <a:prstGeom prst="rect">
            <a:avLst/>
          </a:prstGeom>
        </p:spPr>
        <p:txBody>
          <a:bodyPr/>
          <a:lstStyle>
            <a:lvl1pPr indent="264159">
              <a:spcBef>
                <a:spcPts val="100"/>
              </a:spcBef>
              <a:defRPr spc="-100"/>
            </a:lvl1pPr>
          </a:lstStyle>
          <a:p>
            <a:r>
              <a:t>Finding and Outcomes</a:t>
            </a:r>
          </a:p>
        </p:txBody>
      </p:sp>
      <p:sp>
        <p:nvSpPr>
          <p:cNvPr id="111" name="TextBox 6"/>
          <p:cNvSpPr txBox="1"/>
          <p:nvPr/>
        </p:nvSpPr>
        <p:spPr>
          <a:xfrm>
            <a:off x="426719" y="1066800"/>
            <a:ext cx="7985761" cy="8818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endParaRPr/>
          </a:p>
          <a:p>
            <a:pPr algn="just">
              <a:defRPr>
                <a:latin typeface="Times New Roman"/>
                <a:ea typeface="Times New Roman"/>
                <a:cs typeface="Times New Roman"/>
                <a:sym typeface="Times New Roman"/>
              </a:defRPr>
            </a:pPr>
            <a:endParaRPr/>
          </a:p>
        </p:txBody>
      </p:sp>
      <p:pic>
        <p:nvPicPr>
          <p:cNvPr id="112" name="stackoverflow-dev-survey-2024-ai-developer-tools-ai-ben-social.png" descr="stackoverflow-dev-survey-2024-ai-developer-tools-ai-ben-social.png"/>
          <p:cNvPicPr>
            <a:picLocks noChangeAspect="1"/>
          </p:cNvPicPr>
          <p:nvPr/>
        </p:nvPicPr>
        <p:blipFill>
          <a:blip r:embed="rId2"/>
          <a:stretch>
            <a:fillRect/>
          </a:stretch>
        </p:blipFill>
        <p:spPr>
          <a:xfrm>
            <a:off x="304165" y="1295082"/>
            <a:ext cx="8535670" cy="4267836"/>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object 2"/>
          <p:cNvSpPr txBox="1">
            <a:spLocks noGrp="1"/>
          </p:cNvSpPr>
          <p:nvPr>
            <p:ph type="title"/>
          </p:nvPr>
        </p:nvSpPr>
        <p:spPr>
          <a:xfrm>
            <a:off x="78738" y="186638"/>
            <a:ext cx="4778376" cy="607238"/>
          </a:xfrm>
          <a:prstGeom prst="rect">
            <a:avLst/>
          </a:prstGeom>
        </p:spPr>
        <p:txBody>
          <a:bodyPr/>
          <a:lstStyle>
            <a:lvl1pPr indent="264159">
              <a:spcBef>
                <a:spcPts val="100"/>
              </a:spcBef>
              <a:defRPr spc="-100"/>
            </a:lvl1pPr>
          </a:lstStyle>
          <a:p>
            <a:r>
              <a:t>Finding and Outcomes</a:t>
            </a:r>
          </a:p>
        </p:txBody>
      </p:sp>
      <p:sp>
        <p:nvSpPr>
          <p:cNvPr id="115" name="TextBox 6"/>
          <p:cNvSpPr txBox="1"/>
          <p:nvPr/>
        </p:nvSpPr>
        <p:spPr>
          <a:xfrm>
            <a:off x="426719" y="1066800"/>
            <a:ext cx="7985761" cy="8818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endParaRPr/>
          </a:p>
          <a:p>
            <a:pPr algn="just">
              <a:defRPr>
                <a:latin typeface="Times New Roman"/>
                <a:ea typeface="Times New Roman"/>
                <a:cs typeface="Times New Roman"/>
                <a:sym typeface="Times New Roman"/>
              </a:defRPr>
            </a:pPr>
            <a:endParaRPr/>
          </a:p>
        </p:txBody>
      </p:sp>
      <p:pic>
        <p:nvPicPr>
          <p:cNvPr id="116" name="stackoverflow-dev-survey-2024-ai-developer-tools-ai-next-social.png" descr="stackoverflow-dev-survey-2024-ai-developer-tools-ai-next-social.png"/>
          <p:cNvPicPr>
            <a:picLocks noChangeAspect="1"/>
          </p:cNvPicPr>
          <p:nvPr/>
        </p:nvPicPr>
        <p:blipFill>
          <a:blip r:embed="rId2"/>
          <a:stretch>
            <a:fillRect/>
          </a:stretch>
        </p:blipFill>
        <p:spPr>
          <a:xfrm>
            <a:off x="1670855" y="900703"/>
            <a:ext cx="5802290" cy="5693496"/>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object 2"/>
          <p:cNvSpPr txBox="1">
            <a:spLocks noGrp="1"/>
          </p:cNvSpPr>
          <p:nvPr>
            <p:ph type="title"/>
          </p:nvPr>
        </p:nvSpPr>
        <p:spPr>
          <a:xfrm>
            <a:off x="78738" y="186638"/>
            <a:ext cx="4778376" cy="607238"/>
          </a:xfrm>
          <a:prstGeom prst="rect">
            <a:avLst/>
          </a:prstGeom>
        </p:spPr>
        <p:txBody>
          <a:bodyPr/>
          <a:lstStyle>
            <a:lvl1pPr indent="264159">
              <a:spcBef>
                <a:spcPts val="100"/>
              </a:spcBef>
              <a:defRPr spc="-100"/>
            </a:lvl1pPr>
          </a:lstStyle>
          <a:p>
            <a:r>
              <a:t>Finding and Outcomes</a:t>
            </a:r>
          </a:p>
        </p:txBody>
      </p:sp>
      <p:sp>
        <p:nvSpPr>
          <p:cNvPr id="119" name="TextBox 6"/>
          <p:cNvSpPr txBox="1"/>
          <p:nvPr/>
        </p:nvSpPr>
        <p:spPr>
          <a:xfrm>
            <a:off x="426719" y="1066800"/>
            <a:ext cx="7985761" cy="8818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endParaRPr/>
          </a:p>
          <a:p>
            <a:pPr algn="just">
              <a:defRPr>
                <a:latin typeface="Times New Roman"/>
                <a:ea typeface="Times New Roman"/>
                <a:cs typeface="Times New Roman"/>
                <a:sym typeface="Times New Roman"/>
              </a:defRPr>
            </a:pPr>
            <a:endParaRPr/>
          </a:p>
        </p:txBody>
      </p:sp>
      <p:pic>
        <p:nvPicPr>
          <p:cNvPr id="120" name="stackoverflow-dev-survey-2024-ai-developer-tools-ai-tool-social.png" descr="stackoverflow-dev-survey-2024-ai-developer-tools-ai-tool-social.png"/>
          <p:cNvPicPr>
            <a:picLocks noChangeAspect="1"/>
          </p:cNvPicPr>
          <p:nvPr/>
        </p:nvPicPr>
        <p:blipFill>
          <a:blip r:embed="rId2"/>
          <a:stretch>
            <a:fillRect/>
          </a:stretch>
        </p:blipFill>
        <p:spPr>
          <a:xfrm>
            <a:off x="838805" y="1180880"/>
            <a:ext cx="7466390" cy="5133143"/>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object 2"/>
          <p:cNvSpPr txBox="1">
            <a:spLocks noGrp="1"/>
          </p:cNvSpPr>
          <p:nvPr>
            <p:ph type="title"/>
          </p:nvPr>
        </p:nvSpPr>
        <p:spPr>
          <a:xfrm>
            <a:off x="78738" y="186638"/>
            <a:ext cx="4778376" cy="607238"/>
          </a:xfrm>
          <a:prstGeom prst="rect">
            <a:avLst/>
          </a:prstGeom>
        </p:spPr>
        <p:txBody>
          <a:bodyPr/>
          <a:lstStyle>
            <a:lvl1pPr indent="264159">
              <a:spcBef>
                <a:spcPts val="100"/>
              </a:spcBef>
              <a:defRPr spc="-100"/>
            </a:lvl1pPr>
          </a:lstStyle>
          <a:p>
            <a:r>
              <a:t>Finding and Outcomes</a:t>
            </a:r>
          </a:p>
        </p:txBody>
      </p:sp>
      <p:sp>
        <p:nvSpPr>
          <p:cNvPr id="123" name="TextBox 6"/>
          <p:cNvSpPr txBox="1"/>
          <p:nvPr/>
        </p:nvSpPr>
        <p:spPr>
          <a:xfrm>
            <a:off x="426719" y="1066800"/>
            <a:ext cx="7985761" cy="8818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endParaRPr/>
          </a:p>
          <a:p>
            <a:pPr algn="just">
              <a:defRPr>
                <a:latin typeface="Times New Roman"/>
                <a:ea typeface="Times New Roman"/>
                <a:cs typeface="Times New Roman"/>
                <a:sym typeface="Times New Roman"/>
              </a:defRPr>
            </a:pPr>
            <a:endParaRPr/>
          </a:p>
        </p:txBody>
      </p:sp>
      <p:pic>
        <p:nvPicPr>
          <p:cNvPr id="124" name="stackoverflow-dev-survey-2024-ai-sentiment-and-usage-ai-sent-social.png" descr="stackoverflow-dev-survey-2024-ai-sentiment-and-usage-ai-sent-social.png"/>
          <p:cNvPicPr>
            <a:picLocks noChangeAspect="1"/>
          </p:cNvPicPr>
          <p:nvPr/>
        </p:nvPicPr>
        <p:blipFill>
          <a:blip r:embed="rId2"/>
          <a:stretch>
            <a:fillRect/>
          </a:stretch>
        </p:blipFill>
        <p:spPr>
          <a:xfrm>
            <a:off x="152400" y="1572513"/>
            <a:ext cx="8839201" cy="4419601"/>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object 2"/>
          <p:cNvSpPr txBox="1">
            <a:spLocks noGrp="1"/>
          </p:cNvSpPr>
          <p:nvPr>
            <p:ph type="title"/>
          </p:nvPr>
        </p:nvSpPr>
        <p:spPr>
          <a:xfrm>
            <a:off x="78738" y="186638"/>
            <a:ext cx="6017263" cy="599703"/>
          </a:xfrm>
          <a:prstGeom prst="rect">
            <a:avLst/>
          </a:prstGeom>
        </p:spPr>
        <p:txBody>
          <a:bodyPr/>
          <a:lstStyle/>
          <a:p>
            <a:pPr indent="264159">
              <a:spcBef>
                <a:spcPts val="100"/>
              </a:spcBef>
              <a:defRPr spc="-100"/>
            </a:pPr>
            <a:r>
              <a:t>Conclusion and Future Scope</a:t>
            </a:r>
          </a:p>
        </p:txBody>
      </p:sp>
      <p:sp>
        <p:nvSpPr>
          <p:cNvPr id="127" name="object 3"/>
          <p:cNvSpPr txBox="1">
            <a:spLocks noGrp="1"/>
          </p:cNvSpPr>
          <p:nvPr>
            <p:ph type="body" idx="1"/>
          </p:nvPr>
        </p:nvSpPr>
        <p:spPr>
          <a:xfrm>
            <a:off x="258267" y="1076958"/>
            <a:ext cx="8494395" cy="5597047"/>
          </a:xfrm>
          <a:prstGeom prst="rect">
            <a:avLst/>
          </a:prstGeom>
        </p:spPr>
        <p:txBody>
          <a:bodyPr/>
          <a:lstStyle/>
          <a:p>
            <a:pPr>
              <a:defRPr sz="1800"/>
            </a:pPr>
            <a:r>
              <a:t>In the future, this study can be extended by exploring more advanced AI technologies and their impact on software development practices. Using larger industry datasets and real-world development environments can provide deeper insights into how AI-powered tools improve coding, testing, debugging, and overall developer productivity.</a:t>
            </a:r>
          </a:p>
          <a:p>
            <a:pPr>
              <a:defRPr sz="1800"/>
            </a:pPr>
            <a:endParaRPr/>
          </a:p>
          <a:p>
            <a:pPr>
              <a:defRPr sz="1800"/>
            </a:pPr>
            <a:r>
              <a:t>Further research can also focus on improving AI-powered development tools by making them more transparent, reliable, and secure. AI systems should provide clear explanations for generated code and decisions to help developers better understand and trust AI-assisted software development processes.</a:t>
            </a:r>
          </a:p>
          <a:p>
            <a:pPr>
              <a:defRPr sz="1800"/>
            </a:pPr>
            <a:endParaRPr/>
          </a:p>
          <a:p>
            <a:pPr>
              <a:defRPr sz="1800"/>
            </a:pPr>
            <a:r>
              <a:t>Additionally, studying long-term AI integration can help understand how developers depend on AI-powered tools over time and how it affects software development practices. Future work can also explore how balanced and efficient use of AI can improve productivity while maintaining strong problem-solving and development skills.</a:t>
            </a:r>
          </a:p>
          <a:p>
            <a:pPr>
              <a:defRPr sz="1800"/>
            </a:pPr>
            <a:endParaRPr/>
          </a:p>
          <a:p>
            <a:pPr>
              <a:defRPr sz="1800"/>
            </a:pPr>
            <a:r>
              <a:t>Overall, the study highlights that AI systems should not only focus on automation and efficiency but also on transparency, reliability, and security. Designing AI-powered development tools that support trust and effective human-AI collaboration is essential for improving modern software development practices.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object 2"/>
          <p:cNvSpPr txBox="1">
            <a:spLocks noGrp="1"/>
          </p:cNvSpPr>
          <p:nvPr>
            <p:ph type="title"/>
          </p:nvPr>
        </p:nvSpPr>
        <p:spPr>
          <a:xfrm>
            <a:off x="78738" y="186638"/>
            <a:ext cx="4778376" cy="607239"/>
          </a:xfrm>
          <a:prstGeom prst="rect">
            <a:avLst/>
          </a:prstGeom>
        </p:spPr>
        <p:txBody>
          <a:bodyPr/>
          <a:lstStyle>
            <a:lvl1pPr indent="335915">
              <a:spcBef>
                <a:spcPts val="100"/>
              </a:spcBef>
              <a:defRPr spc="-100"/>
            </a:lvl1pPr>
          </a:lstStyle>
          <a:p>
            <a:r>
              <a:t>References</a:t>
            </a:r>
          </a:p>
        </p:txBody>
      </p:sp>
      <p:sp>
        <p:nvSpPr>
          <p:cNvPr id="130" name="object 4"/>
          <p:cNvSpPr txBox="1"/>
          <p:nvPr/>
        </p:nvSpPr>
        <p:spPr>
          <a:xfrm>
            <a:off x="186333" y="823703"/>
            <a:ext cx="8771334" cy="3813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85750" indent="-285750">
              <a:lnSpc>
                <a:spcPct val="150000"/>
              </a:lnSpc>
              <a:buSzPct val="100000"/>
              <a:buChar char="▪"/>
              <a:defRPr i="1">
                <a:latin typeface="Times New Roman"/>
                <a:ea typeface="Times New Roman"/>
                <a:cs typeface="Times New Roman"/>
                <a:sym typeface="Times New Roman"/>
              </a:defRPr>
            </a:pPr>
            <a:r>
              <a:t>Grand View Research – Artificial Intelligence in Software Development Market Report</a:t>
            </a:r>
          </a:p>
          <a:p>
            <a:pPr marL="285750" indent="-285750">
              <a:lnSpc>
                <a:spcPct val="150000"/>
              </a:lnSpc>
              <a:buSzPct val="100000"/>
              <a:buChar char="▪"/>
              <a:defRPr i="1">
                <a:latin typeface="Times New Roman"/>
                <a:ea typeface="Times New Roman"/>
                <a:cs typeface="Times New Roman"/>
                <a:sym typeface="Times New Roman"/>
              </a:defRPr>
            </a:pPr>
            <a:r>
              <a:t>GitHub – GitHub Copilot Documentation</a:t>
            </a:r>
          </a:p>
          <a:p>
            <a:pPr marL="285750" indent="-285750">
              <a:lnSpc>
                <a:spcPct val="150000"/>
              </a:lnSpc>
              <a:buSzPct val="100000"/>
              <a:buChar char="▪"/>
              <a:defRPr i="1">
                <a:latin typeface="Times New Roman"/>
                <a:ea typeface="Times New Roman"/>
                <a:cs typeface="Times New Roman"/>
                <a:sym typeface="Times New Roman"/>
              </a:defRPr>
            </a:pPr>
            <a:r>
              <a:t>Amazon Web Services – Amazon Q Developer Documentation</a:t>
            </a:r>
          </a:p>
          <a:p>
            <a:pPr marL="285750" indent="-285750">
              <a:lnSpc>
                <a:spcPct val="150000"/>
              </a:lnSpc>
              <a:buSzPct val="100000"/>
              <a:buChar char="▪"/>
              <a:defRPr i="1">
                <a:latin typeface="Times New Roman"/>
                <a:ea typeface="Times New Roman"/>
                <a:cs typeface="Times New Roman"/>
                <a:sym typeface="Times New Roman"/>
              </a:defRPr>
            </a:pPr>
            <a:r>
              <a:t>Stack Overflow – Developer Survey on AI Tools Adoption </a:t>
            </a:r>
          </a:p>
          <a:p>
            <a:pPr marL="285750" indent="-285750">
              <a:lnSpc>
                <a:spcPct val="150000"/>
              </a:lnSpc>
              <a:buSzPct val="100000"/>
              <a:buChar char="▪"/>
              <a:defRPr i="1">
                <a:latin typeface="Times New Roman"/>
                <a:ea typeface="Times New Roman"/>
                <a:cs typeface="Times New Roman"/>
                <a:sym typeface="Times New Roman"/>
              </a:defRPr>
            </a:pPr>
            <a:r>
              <a:t>Anthropic – Claude AI Research and Enterprise Usage Report</a:t>
            </a:r>
          </a:p>
          <a:p>
            <a:pPr marL="285750" indent="-285750">
              <a:lnSpc>
                <a:spcPct val="150000"/>
              </a:lnSpc>
              <a:buSzPct val="100000"/>
              <a:buChar char="▪"/>
              <a:defRPr i="1">
                <a:latin typeface="Times New Roman"/>
                <a:ea typeface="Times New Roman"/>
                <a:cs typeface="Times New Roman"/>
                <a:sym typeface="Times New Roman"/>
              </a:defRPr>
            </a:pPr>
            <a:r>
              <a:t> Brown, T. B. et al. – Language Models are Few-Shot Learners</a:t>
            </a:r>
          </a:p>
          <a:p>
            <a:pPr marL="285750" indent="-285750">
              <a:lnSpc>
                <a:spcPct val="150000"/>
              </a:lnSpc>
              <a:buSzPct val="100000"/>
              <a:buChar char="▪"/>
              <a:defRPr i="1">
                <a:latin typeface="Times New Roman"/>
                <a:ea typeface="Times New Roman"/>
                <a:cs typeface="Times New Roman"/>
                <a:sym typeface="Times New Roman"/>
              </a:defRPr>
            </a:pPr>
            <a:r>
              <a:t>Kim, M., Lee, S., Park, J. – Automated Test Case Generation Using Machine Learning Techniques</a:t>
            </a:r>
          </a:p>
          <a:p>
            <a:pPr marL="285750" indent="-285750">
              <a:lnSpc>
                <a:spcPct val="150000"/>
              </a:lnSpc>
              <a:buSzPct val="100000"/>
              <a:buChar char="▪"/>
              <a:defRPr i="1">
                <a:latin typeface="Times New Roman"/>
                <a:ea typeface="Times New Roman"/>
                <a:cs typeface="Times New Roman"/>
                <a:sym typeface="Times New Roman"/>
              </a:defRPr>
            </a:pPr>
            <a:r>
              <a:t>Pedregosa, F. et al. – Scikit-learn: Machine Learning in Python</a:t>
            </a:r>
          </a:p>
          <a:p>
            <a:pPr marL="285750" indent="-285750">
              <a:lnSpc>
                <a:spcPct val="150000"/>
              </a:lnSpc>
              <a:buSzPct val="100000"/>
              <a:buChar char="▪"/>
              <a:defRPr i="1">
                <a:latin typeface="Times New Roman"/>
                <a:ea typeface="Times New Roman"/>
                <a:cs typeface="Times New Roman"/>
                <a:sym typeface="Times New Roman"/>
              </a:defRPr>
            </a:pPr>
            <a:r>
              <a:t>Yin, S. et al. – AI-mediated Social Support and Human-AI Collaboration</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Table of Content</vt:lpstr>
      <vt:lpstr>Introduction</vt:lpstr>
      <vt:lpstr>Problem Statement</vt:lpstr>
      <vt:lpstr>Methodology</vt:lpstr>
      <vt:lpstr>Tools and Technologies</vt:lpstr>
      <vt:lpstr>Finding and Outcomes</vt:lpstr>
      <vt:lpstr>Finding and Outcomes</vt:lpstr>
      <vt:lpstr>Finding and Outcomes</vt:lpstr>
      <vt:lpstr>Finding and Outcomes</vt:lpstr>
      <vt:lpstr>Finding and Outcomes</vt:lpstr>
      <vt:lpstr>Conclusion and 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2026-05-15T08:33:58Z</dcterms:modified>
</cp:coreProperties>
</file>