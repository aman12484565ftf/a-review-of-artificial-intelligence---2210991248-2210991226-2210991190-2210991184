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8"/>
  </p:notesMasterIdLst>
  <p:handoutMasterIdLst>
    <p:handoutMasterId r:id="rId19"/>
  </p:handoutMasterIdLst>
  <p:sldIdLst>
    <p:sldId id="256" r:id="rId5"/>
    <p:sldId id="257" r:id="rId6"/>
    <p:sldId id="269" r:id="rId7"/>
    <p:sldId id="270" r:id="rId8"/>
    <p:sldId id="271" r:id="rId9"/>
    <p:sldId id="272" r:id="rId10"/>
    <p:sldId id="273" r:id="rId11"/>
    <p:sldId id="274" r:id="rId12"/>
    <p:sldId id="275" r:id="rId13"/>
    <p:sldId id="276" r:id="rId14"/>
    <p:sldId id="277" r:id="rId15"/>
    <p:sldId id="278" r:id="rId16"/>
    <p:sldId id="268" r:id="rId17"/>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1426"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2</a:t>
            </a:fld>
            <a:endParaRPr lang="en-US"/>
          </a:p>
        </p:txBody>
      </p:sp>
    </p:spTree>
    <p:extLst>
      <p:ext uri="{BB962C8B-B14F-4D97-AF65-F5344CB8AC3E}">
        <p14:creationId xmlns:p14="http://schemas.microsoft.com/office/powerpoint/2010/main" val="851931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1325880"/>
            <a:ext cx="9144000" cy="4892040"/>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b="1" i="1" spc="-1" dirty="0">
                <a:latin typeface="Times New Roman" panose="02020603050405020304" pitchFamily="18" charset="0"/>
                <a:ea typeface="Calibri" panose="020F0502020204030204" pitchFamily="34" charset="0"/>
                <a:cs typeface="Times New Roman" panose="02020603050405020304" pitchFamily="18" charset="0"/>
              </a:rPr>
              <a:t>A Review of Artificial Intelligence Integration in Modern</a:t>
            </a:r>
          </a:p>
          <a:p>
            <a:pPr algn="ctr">
              <a:lnSpc>
                <a:spcPct val="100000"/>
              </a:lnSpc>
              <a:spcBef>
                <a:spcPts val="400"/>
              </a:spcBef>
            </a:pPr>
            <a:r>
              <a:rPr lang="en-US" sz="2000" b="1" i="1" spc="-1" dirty="0">
                <a:latin typeface="Times New Roman" panose="02020603050405020304" pitchFamily="18" charset="0"/>
                <a:ea typeface="Calibri" panose="020F0502020204030204" pitchFamily="34" charset="0"/>
                <a:cs typeface="Times New Roman" panose="02020603050405020304" pitchFamily="18" charset="0"/>
              </a:rPr>
              <a:t>Software development Practices</a:t>
            </a:r>
          </a:p>
          <a:p>
            <a:pPr algn="ctr">
              <a:lnSpc>
                <a:spcPct val="100000"/>
              </a:lnSpc>
              <a:spcBef>
                <a:spcPts val="400"/>
              </a:spcBef>
            </a:pPr>
            <a:endParaRPr lang="en-US" sz="2000" b="1"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1"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Akshat Khosla - 2210991226</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Aman Sharma - 2210991248</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Aditya Aggarwal - 2210991184</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Aditya Chauhan – 2210991190</a:t>
            </a: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b="1" spc="-1" dirty="0">
                <a:solidFill>
                  <a:srgbClr val="000000"/>
                </a:solidFill>
                <a:latin typeface="Times New Roman" panose="02020603050405020304" pitchFamily="18" charset="0"/>
                <a:ea typeface="MS PGothic"/>
                <a:cs typeface="Times New Roman" panose="02020603050405020304" pitchFamily="18" charset="0"/>
              </a:rPr>
              <a:t>Supervised By </a:t>
            </a:r>
            <a:r>
              <a:rPr lang="en-US" sz="2000" spc="-1" dirty="0">
                <a:solidFill>
                  <a:srgbClr val="000000"/>
                </a:solidFill>
                <a:latin typeface="Times New Roman" panose="02020603050405020304" pitchFamily="18" charset="0"/>
                <a:ea typeface="MS PGothic"/>
                <a:cs typeface="Times New Roman" panose="02020603050405020304" pitchFamily="18" charset="0"/>
              </a:rPr>
              <a:t>: </a:t>
            </a:r>
            <a:r>
              <a:rPr lang="en-US" sz="2000" b="1" spc="-1" dirty="0">
                <a:solidFill>
                  <a:srgbClr val="000000"/>
                </a:solidFill>
                <a:latin typeface="Times New Roman" panose="02020603050405020304" pitchFamily="18" charset="0"/>
                <a:ea typeface="MS PGothic"/>
                <a:cs typeface="Times New Roman" panose="02020603050405020304" pitchFamily="18" charset="0"/>
              </a:rPr>
              <a:t>Shikha</a:t>
            </a:r>
            <a:r>
              <a:rPr lang="en-US" sz="2000" spc="-1" dirty="0">
                <a:solidFill>
                  <a:srgbClr val="000000"/>
                </a:solidFill>
                <a:latin typeface="Times New Roman" panose="02020603050405020304" pitchFamily="18" charset="0"/>
                <a:ea typeface="MS PGothic"/>
                <a:cs typeface="Times New Roman" panose="02020603050405020304" pitchFamily="18" charset="0"/>
              </a:rPr>
              <a:t> </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Team Lead : Aditya Aggarwal</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5920" y="1005840"/>
            <a:ext cx="10648648" cy="4942473"/>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2286000" lvl="4" indent="-317500">
              <a:buClr>
                <a:srgbClr val="000000"/>
              </a:buClr>
              <a:buSzPts val="1400"/>
              <a:buChar char="●"/>
            </a:pPr>
            <a:r>
              <a:rPr lang="en-GB" dirty="0">
                <a:latin typeface="Times New Roman" panose="02020603050405020304" pitchFamily="18" charset="0"/>
                <a:ea typeface="Calibri" panose="020F0502020204030204" pitchFamily="34" charset="0"/>
                <a:cs typeface="Times New Roman" panose="02020603050405020304" pitchFamily="18" charset="0"/>
              </a:rPr>
              <a:t>Artificial Intelligence (AI) is transforming modern software development practices.</a:t>
            </a:r>
          </a:p>
          <a:p>
            <a:pPr marL="2286000" lvl="4" indent="-317500">
              <a:buClr>
                <a:srgbClr val="000000"/>
              </a:buClr>
              <a:buSzPts val="1400"/>
              <a:buChar char="●"/>
            </a:pPr>
            <a:r>
              <a:rPr lang="en-GB" dirty="0">
                <a:latin typeface="Times New Roman" panose="02020603050405020304" pitchFamily="18" charset="0"/>
                <a:ea typeface="Calibri" panose="020F0502020204030204" pitchFamily="34" charset="0"/>
                <a:cs typeface="Times New Roman" panose="02020603050405020304" pitchFamily="18" charset="0"/>
              </a:rPr>
              <a:t>AI tools help developers automate coding, testing, debugging, and project management tasks.</a:t>
            </a:r>
          </a:p>
          <a:p>
            <a:pPr marL="2286000" lvl="4" indent="-317500">
              <a:buClr>
                <a:srgbClr val="000000"/>
              </a:buClr>
              <a:buSzPts val="1400"/>
              <a:buChar char="●"/>
            </a:pPr>
            <a:r>
              <a:rPr lang="en-GB" dirty="0">
                <a:latin typeface="Times New Roman" panose="02020603050405020304" pitchFamily="18" charset="0"/>
                <a:ea typeface="Calibri" panose="020F0502020204030204" pitchFamily="34" charset="0"/>
                <a:cs typeface="Times New Roman" panose="02020603050405020304" pitchFamily="18" charset="0"/>
              </a:rPr>
              <a:t> Integration of AI improves efficiency, accuracy, and productivity in software engineering.</a:t>
            </a:r>
          </a:p>
          <a:p>
            <a:pPr marL="2286000" lvl="4" indent="-317500">
              <a:buClr>
                <a:srgbClr val="000000"/>
              </a:buClr>
              <a:buSzPts val="1400"/>
              <a:buChar char="●"/>
            </a:pPr>
            <a:r>
              <a:rPr lang="en-GB" dirty="0">
                <a:latin typeface="Times New Roman" panose="02020603050405020304" pitchFamily="18" charset="0"/>
                <a:ea typeface="Calibri" panose="020F0502020204030204" pitchFamily="34" charset="0"/>
                <a:cs typeface="Times New Roman" panose="02020603050405020304" pitchFamily="18" charset="0"/>
              </a:rPr>
              <a:t> Modern companies use AI-powered technologies such as GitHub Copilot, ChatGPT, and automated testing tools.</a:t>
            </a:r>
          </a:p>
          <a:p>
            <a:pPr marL="2286000" lvl="4" indent="-317500">
              <a:buClr>
                <a:srgbClr val="000000"/>
              </a:buClr>
              <a:buSzPts val="1400"/>
              <a:buChar char="●"/>
            </a:pPr>
            <a:r>
              <a:rPr lang="en-GB" dirty="0">
                <a:latin typeface="Times New Roman" panose="02020603050405020304" pitchFamily="18" charset="0"/>
                <a:ea typeface="Calibri" panose="020F0502020204030204" pitchFamily="34" charset="0"/>
                <a:cs typeface="Times New Roman" panose="02020603050405020304" pitchFamily="18" charset="0"/>
              </a:rPr>
              <a:t> This presentation reviews the impact, benefits, challenges, and future of AI integration in software development.</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9A4199-F117-F843-A721-693FF21FCACD}"/>
              </a:ext>
            </a:extLst>
          </p:cNvPr>
          <p:cNvSpPr>
            <a:spLocks noGrp="1"/>
          </p:cNvSpPr>
          <p:nvPr>
            <p:ph type="title" idx="4294967295"/>
          </p:nvPr>
        </p:nvSpPr>
        <p:spPr>
          <a:xfrm>
            <a:off x="0" y="0"/>
            <a:ext cx="5486400" cy="914400"/>
          </a:xfrm>
        </p:spPr>
        <p:txBody>
          <a:bodyPr/>
          <a:lstStyle/>
          <a:p>
            <a:r>
              <a:rPr lang="en-IN" dirty="0"/>
              <a:t>                 objectives</a:t>
            </a:r>
          </a:p>
        </p:txBody>
      </p:sp>
      <p:sp>
        <p:nvSpPr>
          <p:cNvPr id="4" name="Text Placeholder 3">
            <a:extLst>
              <a:ext uri="{FF2B5EF4-FFF2-40B4-BE49-F238E27FC236}">
                <a16:creationId xmlns:a16="http://schemas.microsoft.com/office/drawing/2014/main" id="{24B5A0B2-7D0A-3F6D-0FAC-C7B453563A48}"/>
              </a:ext>
            </a:extLst>
          </p:cNvPr>
          <p:cNvSpPr>
            <a:spLocks noGrp="1"/>
          </p:cNvSpPr>
          <p:nvPr>
            <p:ph type="body" idx="4294967295"/>
          </p:nvPr>
        </p:nvSpPr>
        <p:spPr>
          <a:xfrm>
            <a:off x="0" y="1188721"/>
            <a:ext cx="8229600" cy="4392930"/>
          </a:xfrm>
        </p:spPr>
        <p:txBody>
          <a:bodyPr>
            <a:normAutofit/>
          </a:bodyPr>
          <a:lstStyle/>
          <a:p>
            <a:pPr marL="0" indent="0">
              <a:buNone/>
            </a:pPr>
            <a:endParaRPr lang="en-GB" dirty="0"/>
          </a:p>
          <a:p>
            <a:r>
              <a:rPr lang="en-GB" sz="1900" dirty="0"/>
              <a:t>To study the role of Artificial Intelligence in software development.</a:t>
            </a:r>
          </a:p>
          <a:p>
            <a:r>
              <a:rPr lang="en-GB" sz="1900" dirty="0"/>
              <a:t> To understand how AI helps in coding, testing, and debugging.</a:t>
            </a:r>
          </a:p>
          <a:p>
            <a:r>
              <a:rPr lang="en-GB" sz="1900" dirty="0"/>
              <a:t> To examine popular AI development tools used in the industry.</a:t>
            </a:r>
          </a:p>
          <a:p>
            <a:r>
              <a:rPr lang="en-GB" sz="1900" dirty="0"/>
              <a:t> To </a:t>
            </a:r>
            <a:r>
              <a:rPr lang="en-GB" sz="1900" dirty="0" err="1"/>
              <a:t>analyze</a:t>
            </a:r>
            <a:r>
              <a:rPr lang="en-GB" sz="1900" dirty="0"/>
              <a:t> the advantages and challenges of AI integration.</a:t>
            </a:r>
          </a:p>
          <a:p>
            <a:r>
              <a:rPr lang="en-GB" sz="1900" dirty="0"/>
              <a:t> To study future trends of AI in software engineering</a:t>
            </a:r>
            <a:r>
              <a:rPr lang="en-GB" dirty="0"/>
              <a:t>.</a:t>
            </a:r>
            <a:endParaRPr lang="en-IN" dirty="0"/>
          </a:p>
        </p:txBody>
      </p:sp>
    </p:spTree>
    <p:extLst>
      <p:ext uri="{BB962C8B-B14F-4D97-AF65-F5344CB8AC3E}">
        <p14:creationId xmlns:p14="http://schemas.microsoft.com/office/powerpoint/2010/main" val="1202423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FBEE2-F592-E660-AAA3-D10B6897ADF2}"/>
              </a:ext>
            </a:extLst>
          </p:cNvPr>
          <p:cNvSpPr>
            <a:spLocks noGrp="1"/>
          </p:cNvSpPr>
          <p:nvPr>
            <p:ph type="title"/>
          </p:nvPr>
        </p:nvSpPr>
        <p:spPr>
          <a:xfrm>
            <a:off x="0" y="0"/>
            <a:ext cx="6473952" cy="914040"/>
          </a:xfrm>
        </p:spPr>
        <p:txBody>
          <a:bodyPr/>
          <a:lstStyle/>
          <a:p>
            <a:r>
              <a:rPr lang="en-IN" sz="3600" dirty="0"/>
              <a:t>        LITERATURE REVIEW</a:t>
            </a:r>
          </a:p>
        </p:txBody>
      </p:sp>
      <p:sp>
        <p:nvSpPr>
          <p:cNvPr id="3" name="Subtitle 2">
            <a:extLst>
              <a:ext uri="{FF2B5EF4-FFF2-40B4-BE49-F238E27FC236}">
                <a16:creationId xmlns:a16="http://schemas.microsoft.com/office/drawing/2014/main" id="{B887C0B1-63E3-7147-01AA-B31DB76C40D5}"/>
              </a:ext>
            </a:extLst>
          </p:cNvPr>
          <p:cNvSpPr>
            <a:spLocks noGrp="1"/>
          </p:cNvSpPr>
          <p:nvPr>
            <p:ph type="subTitle"/>
          </p:nvPr>
        </p:nvSpPr>
        <p:spPr/>
        <p:txBody>
          <a:bodyPr/>
          <a:lstStyle/>
          <a:p>
            <a:r>
              <a:rPr lang="en-GB" sz="1800" dirty="0"/>
              <a:t>Researchers found that AI improves software testing by predicting possible bugs before testing begins. Smart debugging systems can also </a:t>
            </a:r>
            <a:r>
              <a:rPr lang="en-GB" sz="1800" dirty="0" err="1"/>
              <a:t>analyze</a:t>
            </a:r>
            <a:r>
              <a:rPr lang="en-GB" sz="1800" dirty="0"/>
              <a:t> error logs and </a:t>
            </a:r>
            <a:r>
              <a:rPr lang="en-GB" sz="1800" dirty="0" err="1"/>
              <a:t>helpRecent</a:t>
            </a:r>
            <a:r>
              <a:rPr lang="en-GB" sz="1800" dirty="0"/>
              <a:t> studies show that AI is transforming software development rapidly. Earlier AI coding systems were limited and could only predict simple code patterns. However, with the introduction of Large Language Models, AI tools became more advanced and capable of understanding project requirements better.</a:t>
            </a:r>
          </a:p>
          <a:p>
            <a:r>
              <a:rPr lang="en-GB" sz="1800" dirty="0"/>
              <a:t> developers identify problems quickly</a:t>
            </a:r>
          </a:p>
          <a:p>
            <a:r>
              <a:rPr lang="en-GB" sz="1800" dirty="0"/>
              <a:t>.At the same time, some researchers raised concerns regarding security risks, overdependence on AI tools, and lack of transparency in AI-generated code.</a:t>
            </a:r>
            <a:endParaRPr lang="en-IN" sz="1800" dirty="0"/>
          </a:p>
        </p:txBody>
      </p:sp>
    </p:spTree>
    <p:extLst>
      <p:ext uri="{BB962C8B-B14F-4D97-AF65-F5344CB8AC3E}">
        <p14:creationId xmlns:p14="http://schemas.microsoft.com/office/powerpoint/2010/main" val="2136358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849A4-9384-6B5B-D9DF-14C05D223D9E}"/>
              </a:ext>
            </a:extLst>
          </p:cNvPr>
          <p:cNvSpPr>
            <a:spLocks noGrp="1"/>
          </p:cNvSpPr>
          <p:nvPr>
            <p:ph type="title"/>
          </p:nvPr>
        </p:nvSpPr>
        <p:spPr/>
        <p:txBody>
          <a:bodyPr/>
          <a:lstStyle/>
          <a:p>
            <a:r>
              <a:rPr lang="en-IN" dirty="0"/>
              <a:t>      METHODOLOGY</a:t>
            </a:r>
          </a:p>
        </p:txBody>
      </p:sp>
      <p:sp>
        <p:nvSpPr>
          <p:cNvPr id="3" name="Subtitle 2">
            <a:extLst>
              <a:ext uri="{FF2B5EF4-FFF2-40B4-BE49-F238E27FC236}">
                <a16:creationId xmlns:a16="http://schemas.microsoft.com/office/drawing/2014/main" id="{AFF8AF10-79F0-2574-D149-843A19909E87}"/>
              </a:ext>
            </a:extLst>
          </p:cNvPr>
          <p:cNvSpPr>
            <a:spLocks noGrp="1"/>
          </p:cNvSpPr>
          <p:nvPr>
            <p:ph type="subTitle"/>
          </p:nvPr>
        </p:nvSpPr>
        <p:spPr>
          <a:xfrm>
            <a:off x="457200" y="1225296"/>
            <a:ext cx="8229240" cy="4626864"/>
          </a:xfrm>
        </p:spPr>
        <p:txBody>
          <a:bodyPr/>
          <a:lstStyle/>
          <a:p>
            <a:pPr marL="1371600" lvl="3" indent="0">
              <a:buNone/>
            </a:pPr>
            <a:r>
              <a:rPr lang="en-GB" sz="1600" b="1" dirty="0"/>
              <a:t>For this research, information was collected from:</a:t>
            </a:r>
          </a:p>
          <a:p>
            <a:r>
              <a:rPr lang="en-GB" sz="1600" dirty="0"/>
              <a:t> Research papers</a:t>
            </a:r>
          </a:p>
          <a:p>
            <a:r>
              <a:rPr lang="en-GB" sz="1600" dirty="0"/>
              <a:t> Industry reports</a:t>
            </a:r>
          </a:p>
          <a:p>
            <a:r>
              <a:rPr lang="en-GB" sz="1600" dirty="0"/>
              <a:t> Case studies</a:t>
            </a:r>
          </a:p>
          <a:p>
            <a:r>
              <a:rPr lang="en-GB" sz="1600" dirty="0"/>
              <a:t>Technology surveys</a:t>
            </a:r>
          </a:p>
          <a:p>
            <a:r>
              <a:rPr lang="en-GB" sz="1600" dirty="0"/>
              <a:t>                               </a:t>
            </a:r>
            <a:r>
              <a:rPr lang="en-GB" sz="1600" b="1" dirty="0"/>
              <a:t>The study mainly focused on:</a:t>
            </a:r>
          </a:p>
          <a:p>
            <a:r>
              <a:rPr lang="en-GB" sz="1600" dirty="0"/>
              <a:t>AI-based code generation* </a:t>
            </a:r>
          </a:p>
          <a:p>
            <a:r>
              <a:rPr lang="en-GB" sz="1600" dirty="0"/>
              <a:t>Automated software testing</a:t>
            </a:r>
          </a:p>
          <a:p>
            <a:r>
              <a:rPr lang="en-GB" sz="1600" dirty="0"/>
              <a:t> Bug fixing techniques</a:t>
            </a:r>
          </a:p>
          <a:p>
            <a:r>
              <a:rPr lang="en-GB" sz="1600" dirty="0"/>
              <a:t> Developer productivity</a:t>
            </a:r>
          </a:p>
          <a:p>
            <a:endParaRPr lang="en-GB" sz="1600" dirty="0"/>
          </a:p>
          <a:p>
            <a:r>
              <a:rPr lang="en-GB" sz="1600" dirty="0"/>
              <a:t>The research also examined real-world usage of AI tools in software companies between 2024 and 2026.</a:t>
            </a:r>
            <a:endParaRPr lang="en-IN" sz="1600" dirty="0"/>
          </a:p>
        </p:txBody>
      </p:sp>
    </p:spTree>
    <p:extLst>
      <p:ext uri="{BB962C8B-B14F-4D97-AF65-F5344CB8AC3E}">
        <p14:creationId xmlns:p14="http://schemas.microsoft.com/office/powerpoint/2010/main" val="1165611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F74D2-DC25-B7FC-C505-C062868A3812}"/>
              </a:ext>
            </a:extLst>
          </p:cNvPr>
          <p:cNvSpPr>
            <a:spLocks noGrp="1"/>
          </p:cNvSpPr>
          <p:nvPr>
            <p:ph type="title"/>
          </p:nvPr>
        </p:nvSpPr>
        <p:spPr/>
        <p:txBody>
          <a:bodyPr/>
          <a:lstStyle/>
          <a:p>
            <a:r>
              <a:rPr lang="en-IN" dirty="0"/>
              <a:t>                AI TOOLS</a:t>
            </a:r>
          </a:p>
        </p:txBody>
      </p:sp>
      <p:sp>
        <p:nvSpPr>
          <p:cNvPr id="3" name="Subtitle 2">
            <a:extLst>
              <a:ext uri="{FF2B5EF4-FFF2-40B4-BE49-F238E27FC236}">
                <a16:creationId xmlns:a16="http://schemas.microsoft.com/office/drawing/2014/main" id="{38DEB672-ADE0-A59D-7179-6DE7881EFFDA}"/>
              </a:ext>
            </a:extLst>
          </p:cNvPr>
          <p:cNvSpPr>
            <a:spLocks noGrp="1"/>
          </p:cNvSpPr>
          <p:nvPr>
            <p:ph type="subTitle"/>
          </p:nvPr>
        </p:nvSpPr>
        <p:spPr>
          <a:xfrm>
            <a:off x="219456" y="1527048"/>
            <a:ext cx="8430408" cy="4224528"/>
          </a:xfrm>
        </p:spPr>
        <p:txBody>
          <a:bodyPr/>
          <a:lstStyle/>
          <a:p>
            <a:r>
              <a:rPr lang="en-IN" sz="1800" b="1" dirty="0"/>
              <a:t>Some popular AI tools used in software development are:</a:t>
            </a:r>
          </a:p>
          <a:p>
            <a:r>
              <a:rPr lang="en-IN" sz="1800" dirty="0"/>
              <a:t>GitHub Copilot</a:t>
            </a:r>
          </a:p>
          <a:p>
            <a:r>
              <a:rPr lang="en-IN" sz="1800" dirty="0"/>
              <a:t> Helps developers write code faster</a:t>
            </a:r>
          </a:p>
          <a:p>
            <a:r>
              <a:rPr lang="en-IN" sz="1800" dirty="0"/>
              <a:t>* Gives real-time code suggestions</a:t>
            </a:r>
          </a:p>
          <a:p>
            <a:r>
              <a:rPr lang="en-IN" sz="1800" b="1" dirty="0"/>
              <a:t>Amazon </a:t>
            </a:r>
            <a:r>
              <a:rPr lang="en-IN" sz="1800" b="1" dirty="0" err="1"/>
              <a:t>CodeWhisperer</a:t>
            </a:r>
            <a:endParaRPr lang="en-IN" sz="1800" b="1" dirty="0"/>
          </a:p>
          <a:p>
            <a:r>
              <a:rPr lang="en-IN" sz="1800" dirty="0"/>
              <a:t>* Generates secure coding suggestions</a:t>
            </a:r>
          </a:p>
          <a:p>
            <a:r>
              <a:rPr lang="en-IN" sz="1800" dirty="0"/>
              <a:t>* Supports multiple programming languages</a:t>
            </a:r>
          </a:p>
          <a:p>
            <a:r>
              <a:rPr lang="en-IN" sz="1800" b="1" dirty="0" err="1"/>
              <a:t>Tabnine</a:t>
            </a:r>
            <a:endParaRPr lang="en-IN" sz="1800" b="1" dirty="0"/>
          </a:p>
          <a:p>
            <a:r>
              <a:rPr lang="en-IN" sz="1800" dirty="0"/>
              <a:t>* AI-based code completion tool</a:t>
            </a:r>
          </a:p>
          <a:p>
            <a:r>
              <a:rPr lang="en-IN" sz="1800" dirty="0"/>
              <a:t>* Improves coding efficiency</a:t>
            </a:r>
          </a:p>
          <a:p>
            <a:r>
              <a:rPr lang="en-IN" sz="1800" b="1" dirty="0"/>
              <a:t>Technologies Used</a:t>
            </a:r>
          </a:p>
          <a:p>
            <a:r>
              <a:rPr lang="en-IN" sz="1800" dirty="0"/>
              <a:t>* Machine Learning</a:t>
            </a:r>
          </a:p>
          <a:p>
            <a:r>
              <a:rPr lang="en-IN" sz="1800" dirty="0"/>
              <a:t>* Natural Language Processing</a:t>
            </a:r>
          </a:p>
          <a:p>
            <a:r>
              <a:rPr lang="en-IN" sz="1800" dirty="0"/>
              <a:t>* Large Language Models</a:t>
            </a:r>
          </a:p>
        </p:txBody>
      </p:sp>
    </p:spTree>
    <p:extLst>
      <p:ext uri="{BB962C8B-B14F-4D97-AF65-F5344CB8AC3E}">
        <p14:creationId xmlns:p14="http://schemas.microsoft.com/office/powerpoint/2010/main" val="127427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CF1BE-26E1-A925-0686-23E9ED50352A}"/>
              </a:ext>
            </a:extLst>
          </p:cNvPr>
          <p:cNvSpPr>
            <a:spLocks noGrp="1"/>
          </p:cNvSpPr>
          <p:nvPr>
            <p:ph type="title"/>
          </p:nvPr>
        </p:nvSpPr>
        <p:spPr/>
        <p:txBody>
          <a:bodyPr/>
          <a:lstStyle/>
          <a:p>
            <a:r>
              <a:rPr lang="en-IN" sz="3600" dirty="0"/>
              <a:t>RESULTS AND FINDINGS</a:t>
            </a:r>
          </a:p>
        </p:txBody>
      </p:sp>
      <p:sp>
        <p:nvSpPr>
          <p:cNvPr id="3" name="Subtitle 2">
            <a:extLst>
              <a:ext uri="{FF2B5EF4-FFF2-40B4-BE49-F238E27FC236}">
                <a16:creationId xmlns:a16="http://schemas.microsoft.com/office/drawing/2014/main" id="{AF103C18-0C06-54F3-92EF-DEB4150C61DD}"/>
              </a:ext>
            </a:extLst>
          </p:cNvPr>
          <p:cNvSpPr>
            <a:spLocks noGrp="1"/>
          </p:cNvSpPr>
          <p:nvPr>
            <p:ph type="subTitle"/>
          </p:nvPr>
        </p:nvSpPr>
        <p:spPr>
          <a:xfrm>
            <a:off x="109728" y="1042416"/>
            <a:ext cx="8823960" cy="5495544"/>
          </a:xfrm>
        </p:spPr>
        <p:txBody>
          <a:bodyPr/>
          <a:lstStyle/>
          <a:p>
            <a:pPr marL="3657600" lvl="8" indent="0">
              <a:buNone/>
            </a:pPr>
            <a:r>
              <a:rPr lang="en-GB" sz="1400" b="1" u="sng" dirty="0"/>
              <a:t>Results and Findings</a:t>
            </a:r>
          </a:p>
          <a:p>
            <a:r>
              <a:rPr lang="en-GB" sz="1800" dirty="0"/>
              <a:t>The study showed that AI has significantly improved software development processes.</a:t>
            </a:r>
          </a:p>
          <a:p>
            <a:r>
              <a:rPr lang="en-GB" sz="1800" dirty="0"/>
              <a:t>Main findings include:</a:t>
            </a:r>
          </a:p>
          <a:p>
            <a:r>
              <a:rPr lang="en-GB" sz="1800" dirty="0"/>
              <a:t>* Faster code generation</a:t>
            </a:r>
          </a:p>
          <a:p>
            <a:r>
              <a:rPr lang="en-GB" sz="1800" dirty="0"/>
              <a:t>* Reduced software testing time</a:t>
            </a:r>
          </a:p>
          <a:p>
            <a:r>
              <a:rPr lang="en-GB" sz="1800" dirty="0"/>
              <a:t>* Improved bug detection</a:t>
            </a:r>
          </a:p>
          <a:p>
            <a:r>
              <a:rPr lang="en-GB" sz="1800" dirty="0"/>
              <a:t>* Increased developer productivity</a:t>
            </a:r>
          </a:p>
          <a:p>
            <a:r>
              <a:rPr lang="en-GB" sz="1800" dirty="0"/>
              <a:t>AI tools also help teams complete projects more efficiently by automating repetitive tasks.</a:t>
            </a:r>
          </a:p>
          <a:p>
            <a:r>
              <a:rPr lang="en-GB" sz="1800" dirty="0"/>
              <a:t>By 2025, most software companies had started using AI tools regularly in their development process</a:t>
            </a:r>
            <a:r>
              <a:rPr lang="en-GB" sz="2400" dirty="0"/>
              <a:t>.</a:t>
            </a:r>
            <a:endParaRPr lang="en-IN" sz="2400" dirty="0"/>
          </a:p>
        </p:txBody>
      </p:sp>
    </p:spTree>
    <p:extLst>
      <p:ext uri="{BB962C8B-B14F-4D97-AF65-F5344CB8AC3E}">
        <p14:creationId xmlns:p14="http://schemas.microsoft.com/office/powerpoint/2010/main" val="963102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E5CB0F-52B8-91BF-B397-86E05010AA46}"/>
              </a:ext>
            </a:extLst>
          </p:cNvPr>
          <p:cNvSpPr>
            <a:spLocks noGrp="1"/>
          </p:cNvSpPr>
          <p:nvPr>
            <p:ph type="title"/>
          </p:nvPr>
        </p:nvSpPr>
        <p:spPr/>
        <p:txBody>
          <a:bodyPr/>
          <a:lstStyle/>
          <a:p>
            <a:r>
              <a:rPr lang="en-IN" dirty="0"/>
              <a:t>        KEY FACTORS</a:t>
            </a:r>
          </a:p>
        </p:txBody>
      </p:sp>
      <p:sp>
        <p:nvSpPr>
          <p:cNvPr id="5" name="Subtitle 4">
            <a:extLst>
              <a:ext uri="{FF2B5EF4-FFF2-40B4-BE49-F238E27FC236}">
                <a16:creationId xmlns:a16="http://schemas.microsoft.com/office/drawing/2014/main" id="{D4CED389-7876-A28A-A919-859CE8372EAC}"/>
              </a:ext>
            </a:extLst>
          </p:cNvPr>
          <p:cNvSpPr>
            <a:spLocks noGrp="1"/>
          </p:cNvSpPr>
          <p:nvPr>
            <p:ph type="subTitle"/>
          </p:nvPr>
        </p:nvSpPr>
        <p:spPr/>
        <p:txBody>
          <a:bodyPr/>
          <a:lstStyle/>
          <a:p>
            <a:r>
              <a:rPr lang="en-GB" sz="1800" b="1" dirty="0"/>
              <a:t> KEY FACTORS DRIVING AI ADOPTION</a:t>
            </a:r>
          </a:p>
          <a:p>
            <a:r>
              <a:rPr lang="en-GB" sz="1800" dirty="0"/>
              <a:t>Factors Driving AI Adoption</a:t>
            </a:r>
          </a:p>
          <a:p>
            <a:r>
              <a:rPr lang="en-GB" sz="1800" dirty="0"/>
              <a:t>Several reasons are encouraging companies to adopt AI in software development:</a:t>
            </a:r>
          </a:p>
          <a:p>
            <a:r>
              <a:rPr lang="en-GB" sz="1800" dirty="0"/>
              <a:t>Increasing workload on developers</a:t>
            </a:r>
          </a:p>
          <a:p>
            <a:r>
              <a:rPr lang="en-GB" sz="1800" dirty="0"/>
              <a:t> Need for faster software delivery</a:t>
            </a:r>
          </a:p>
          <a:p>
            <a:r>
              <a:rPr lang="en-GB" sz="1800" dirty="0"/>
              <a:t> Reduction in repetitive coding work</a:t>
            </a:r>
          </a:p>
          <a:p>
            <a:r>
              <a:rPr lang="en-GB" sz="1800" dirty="0"/>
              <a:t> Better testing and debugging support</a:t>
            </a:r>
          </a:p>
          <a:p>
            <a:r>
              <a:rPr lang="en-GB" sz="1800" dirty="0"/>
              <a:t> Improved accuracy and productivity</a:t>
            </a:r>
          </a:p>
          <a:p>
            <a:r>
              <a:rPr lang="en-GB" sz="1800" dirty="0"/>
              <a:t>Large Language Models have also made AI tools more powerful and useful for real-world projects</a:t>
            </a:r>
            <a:r>
              <a:rPr lang="en-GB" dirty="0"/>
              <a:t>.</a:t>
            </a:r>
            <a:endParaRPr lang="en-IN" dirty="0"/>
          </a:p>
        </p:txBody>
      </p:sp>
    </p:spTree>
    <p:extLst>
      <p:ext uri="{BB962C8B-B14F-4D97-AF65-F5344CB8AC3E}">
        <p14:creationId xmlns:p14="http://schemas.microsoft.com/office/powerpoint/2010/main" val="2386512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2DB95-EC66-84E6-00CF-EC7BBDEEFFC3}"/>
              </a:ext>
            </a:extLst>
          </p:cNvPr>
          <p:cNvSpPr>
            <a:spLocks noGrp="1"/>
          </p:cNvSpPr>
          <p:nvPr>
            <p:ph type="title"/>
          </p:nvPr>
        </p:nvSpPr>
        <p:spPr/>
        <p:txBody>
          <a:bodyPr/>
          <a:lstStyle/>
          <a:p>
            <a:r>
              <a:rPr lang="en-IN" dirty="0"/>
              <a:t>           CHALLENGES</a:t>
            </a:r>
          </a:p>
        </p:txBody>
      </p:sp>
      <p:sp>
        <p:nvSpPr>
          <p:cNvPr id="3" name="Subtitle 2">
            <a:extLst>
              <a:ext uri="{FF2B5EF4-FFF2-40B4-BE49-F238E27FC236}">
                <a16:creationId xmlns:a16="http://schemas.microsoft.com/office/drawing/2014/main" id="{9B984C3A-DBD9-C915-6EA1-0F25709C67AC}"/>
              </a:ext>
            </a:extLst>
          </p:cNvPr>
          <p:cNvSpPr>
            <a:spLocks noGrp="1"/>
          </p:cNvSpPr>
          <p:nvPr>
            <p:ph type="subTitle"/>
          </p:nvPr>
        </p:nvSpPr>
        <p:spPr/>
        <p:txBody>
          <a:bodyPr/>
          <a:lstStyle/>
          <a:p>
            <a:r>
              <a:rPr lang="en-GB" sz="1800" b="1" dirty="0"/>
              <a:t>Challenges and Limitation</a:t>
            </a:r>
          </a:p>
          <a:p>
            <a:endParaRPr lang="en-GB" sz="1800" b="1" dirty="0"/>
          </a:p>
          <a:p>
            <a:r>
              <a:rPr lang="en-GB" sz="1800" dirty="0"/>
              <a:t>Despite many advantages, AI still faces some challenges:</a:t>
            </a:r>
          </a:p>
          <a:p>
            <a:r>
              <a:rPr lang="en-GB" sz="1800" dirty="0"/>
              <a:t>* AI-generated code may contain errors</a:t>
            </a:r>
          </a:p>
          <a:p>
            <a:r>
              <a:rPr lang="en-GB" sz="1800" dirty="0"/>
              <a:t>* Security and privacy concerns</a:t>
            </a:r>
          </a:p>
          <a:p>
            <a:r>
              <a:rPr lang="en-GB" sz="1800" dirty="0"/>
              <a:t>* Lack of transparency in AI decisions</a:t>
            </a:r>
          </a:p>
          <a:p>
            <a:r>
              <a:rPr lang="en-GB" sz="1800" dirty="0"/>
              <a:t>* Overdependence on AI tools</a:t>
            </a:r>
          </a:p>
          <a:p>
            <a:r>
              <a:rPr lang="en-GB" sz="1800" dirty="0"/>
              <a:t>* Difficulty integrating AI with older systems</a:t>
            </a:r>
          </a:p>
          <a:p>
            <a:r>
              <a:rPr lang="en-GB" sz="1800" dirty="0"/>
              <a:t>Developers still need human understanding and problem-solving skills while using AI tools.</a:t>
            </a:r>
            <a:endParaRPr lang="en-IN" sz="1800" dirty="0"/>
          </a:p>
        </p:txBody>
      </p:sp>
    </p:spTree>
    <p:extLst>
      <p:ext uri="{BB962C8B-B14F-4D97-AF65-F5344CB8AC3E}">
        <p14:creationId xmlns:p14="http://schemas.microsoft.com/office/powerpoint/2010/main" val="3896951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BFE64-8CC8-8209-1816-266FC7EC952F}"/>
              </a:ext>
            </a:extLst>
          </p:cNvPr>
          <p:cNvSpPr>
            <a:spLocks noGrp="1"/>
          </p:cNvSpPr>
          <p:nvPr>
            <p:ph type="title"/>
          </p:nvPr>
        </p:nvSpPr>
        <p:spPr/>
        <p:txBody>
          <a:bodyPr/>
          <a:lstStyle/>
          <a:p>
            <a:r>
              <a:rPr lang="en-IN" dirty="0"/>
              <a:t>        FUTURE WORK</a:t>
            </a:r>
          </a:p>
        </p:txBody>
      </p:sp>
      <p:sp>
        <p:nvSpPr>
          <p:cNvPr id="3" name="Subtitle 2">
            <a:extLst>
              <a:ext uri="{FF2B5EF4-FFF2-40B4-BE49-F238E27FC236}">
                <a16:creationId xmlns:a16="http://schemas.microsoft.com/office/drawing/2014/main" id="{164426E9-3E5D-DFD0-90C8-0792723B208D}"/>
              </a:ext>
            </a:extLst>
          </p:cNvPr>
          <p:cNvSpPr>
            <a:spLocks noGrp="1"/>
          </p:cNvSpPr>
          <p:nvPr>
            <p:ph type="subTitle"/>
          </p:nvPr>
        </p:nvSpPr>
        <p:spPr/>
        <p:txBody>
          <a:bodyPr/>
          <a:lstStyle/>
          <a:p>
            <a:r>
              <a:rPr lang="en-GB" sz="1800" dirty="0"/>
              <a:t>In the future, AI will become even more advanced in software development.</a:t>
            </a:r>
          </a:p>
          <a:p>
            <a:r>
              <a:rPr lang="en-GB" sz="1800" dirty="0"/>
              <a:t>Future developments may include:</a:t>
            </a:r>
          </a:p>
          <a:p>
            <a:r>
              <a:rPr lang="en-GB" sz="1800" dirty="0"/>
              <a:t> AI agents working independently</a:t>
            </a:r>
          </a:p>
          <a:p>
            <a:r>
              <a:rPr lang="en-GB" sz="1800" dirty="0"/>
              <a:t> Coding using simple English instructions</a:t>
            </a:r>
          </a:p>
          <a:p>
            <a:r>
              <a:rPr lang="en-GB" sz="1800" dirty="0"/>
              <a:t> AI-powered DevOps systems</a:t>
            </a:r>
          </a:p>
          <a:p>
            <a:r>
              <a:rPr lang="en-GB" sz="1800" dirty="0"/>
              <a:t> Better automation in deployment and testing</a:t>
            </a:r>
          </a:p>
          <a:p>
            <a:r>
              <a:rPr lang="en-GB" sz="1800" dirty="0"/>
              <a:t> More intelligent debugging systems</a:t>
            </a:r>
          </a:p>
          <a:p>
            <a:r>
              <a:rPr lang="en-GB" sz="1800" dirty="0"/>
              <a:t>AI is expected to become an important partner for developers in upcoming years</a:t>
            </a:r>
            <a:r>
              <a:rPr lang="en-GB" dirty="0"/>
              <a:t>.</a:t>
            </a:r>
            <a:endParaRPr lang="en-IN" dirty="0"/>
          </a:p>
        </p:txBody>
      </p:sp>
    </p:spTree>
    <p:extLst>
      <p:ext uri="{BB962C8B-B14F-4D97-AF65-F5344CB8AC3E}">
        <p14:creationId xmlns:p14="http://schemas.microsoft.com/office/powerpoint/2010/main" val="167917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4AD1F-190A-2607-6D23-EE2512803B6E}"/>
              </a:ext>
            </a:extLst>
          </p:cNvPr>
          <p:cNvSpPr>
            <a:spLocks noGrp="1"/>
          </p:cNvSpPr>
          <p:nvPr>
            <p:ph type="title"/>
          </p:nvPr>
        </p:nvSpPr>
        <p:spPr/>
        <p:txBody>
          <a:bodyPr/>
          <a:lstStyle/>
          <a:p>
            <a:r>
              <a:rPr lang="en-IN" dirty="0"/>
              <a:t>          CONCLUSION</a:t>
            </a:r>
          </a:p>
        </p:txBody>
      </p:sp>
      <p:sp>
        <p:nvSpPr>
          <p:cNvPr id="3" name="Subtitle 2">
            <a:extLst>
              <a:ext uri="{FF2B5EF4-FFF2-40B4-BE49-F238E27FC236}">
                <a16:creationId xmlns:a16="http://schemas.microsoft.com/office/drawing/2014/main" id="{1BDBFC44-EFAB-EF4F-5101-22CF3F813B82}"/>
              </a:ext>
            </a:extLst>
          </p:cNvPr>
          <p:cNvSpPr>
            <a:spLocks noGrp="1"/>
          </p:cNvSpPr>
          <p:nvPr>
            <p:ph type="subTitle"/>
          </p:nvPr>
        </p:nvSpPr>
        <p:spPr/>
        <p:txBody>
          <a:bodyPr/>
          <a:lstStyle/>
          <a:p>
            <a:r>
              <a:rPr lang="en-GB" sz="1800" dirty="0"/>
              <a:t>Artificial Intelligence has become an important part of modern software development. AI tools help developers write code faster, improve testing, and reduce errors.</a:t>
            </a:r>
          </a:p>
          <a:p>
            <a:r>
              <a:rPr lang="en-GB" sz="1800" dirty="0"/>
              <a:t>However, AI should be used as a support tool rather than a replacement for developers. Human creativity, logic, and decision-making are still very important.</a:t>
            </a:r>
          </a:p>
          <a:p>
            <a:r>
              <a:rPr lang="en-GB" sz="1800" dirty="0"/>
              <a:t>Companies that use AI carefully and responsibly can improve productivity and software quality significantly</a:t>
            </a:r>
            <a:r>
              <a:rPr lang="en-GB" dirty="0"/>
              <a:t>.</a:t>
            </a:r>
            <a:endParaRPr lang="en-IN" dirty="0"/>
          </a:p>
        </p:txBody>
      </p:sp>
    </p:spTree>
    <p:extLst>
      <p:ext uri="{BB962C8B-B14F-4D97-AF65-F5344CB8AC3E}">
        <p14:creationId xmlns:p14="http://schemas.microsoft.com/office/powerpoint/2010/main" val="2548429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30EA4-EF04-55FD-05A5-F7CE3369E915}"/>
              </a:ext>
            </a:extLst>
          </p:cNvPr>
          <p:cNvSpPr>
            <a:spLocks noGrp="1"/>
          </p:cNvSpPr>
          <p:nvPr>
            <p:ph type="title"/>
          </p:nvPr>
        </p:nvSpPr>
        <p:spPr/>
        <p:txBody>
          <a:bodyPr/>
          <a:lstStyle/>
          <a:p>
            <a:r>
              <a:rPr lang="en-IN" dirty="0"/>
              <a:t>            REFERENCE</a:t>
            </a:r>
          </a:p>
        </p:txBody>
      </p:sp>
      <p:sp>
        <p:nvSpPr>
          <p:cNvPr id="3" name="Subtitle 2">
            <a:extLst>
              <a:ext uri="{FF2B5EF4-FFF2-40B4-BE49-F238E27FC236}">
                <a16:creationId xmlns:a16="http://schemas.microsoft.com/office/drawing/2014/main" id="{00ED8CD5-B132-F2F8-935D-D2C36012D946}"/>
              </a:ext>
            </a:extLst>
          </p:cNvPr>
          <p:cNvSpPr>
            <a:spLocks noGrp="1"/>
          </p:cNvSpPr>
          <p:nvPr>
            <p:ph type="subTitle"/>
          </p:nvPr>
        </p:nvSpPr>
        <p:spPr/>
        <p:txBody>
          <a:bodyPr/>
          <a:lstStyle/>
          <a:p>
            <a:r>
              <a:rPr lang="en-IN" sz="1800" dirty="0"/>
              <a:t>1. GitHub Copilot Documentation</a:t>
            </a:r>
          </a:p>
          <a:p>
            <a:r>
              <a:rPr lang="en-IN" sz="1800" dirty="0"/>
              <a:t>2. Amazon </a:t>
            </a:r>
            <a:r>
              <a:rPr lang="en-IN" sz="1800" dirty="0" err="1"/>
              <a:t>CodeWhisperer</a:t>
            </a:r>
            <a:r>
              <a:rPr lang="en-IN" sz="1800" dirty="0"/>
              <a:t> Documentation</a:t>
            </a:r>
          </a:p>
          <a:p>
            <a:r>
              <a:rPr lang="en-IN" sz="1800" dirty="0"/>
              <a:t>3. Stack Overflow Developer Survey 2025</a:t>
            </a:r>
          </a:p>
          <a:p>
            <a:r>
              <a:rPr lang="en-IN" sz="1800" dirty="0"/>
              <a:t>4. Grand View Research Report</a:t>
            </a:r>
          </a:p>
          <a:p>
            <a:r>
              <a:rPr lang="en-IN" sz="1800" dirty="0"/>
              <a:t>5. IEEE Research Papers on AI and Software Development</a:t>
            </a:r>
          </a:p>
          <a:p>
            <a:r>
              <a:rPr lang="en-IN" sz="1800" dirty="0"/>
              <a:t>6. Anthropic Research Reports</a:t>
            </a:r>
          </a:p>
        </p:txBody>
      </p:sp>
    </p:spTree>
    <p:extLst>
      <p:ext uri="{BB962C8B-B14F-4D97-AF65-F5344CB8AC3E}">
        <p14:creationId xmlns:p14="http://schemas.microsoft.com/office/powerpoint/2010/main" val="1335541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
        <p:nvSpPr>
          <p:cNvPr id="2" name="Title 1">
            <a:extLst>
              <a:ext uri="{FF2B5EF4-FFF2-40B4-BE49-F238E27FC236}">
                <a16:creationId xmlns:a16="http://schemas.microsoft.com/office/drawing/2014/main" id="{0A2479AD-D89F-006C-1DF0-438A257D7787}"/>
              </a:ext>
            </a:extLst>
          </p:cNvPr>
          <p:cNvSpPr>
            <a:spLocks noGrp="1"/>
          </p:cNvSpPr>
          <p:nvPr>
            <p:ph type="title"/>
          </p:nvPr>
        </p:nvSpPr>
        <p:spPr/>
        <p:txBody>
          <a:bodyPr/>
          <a:lstStyle/>
          <a:p>
            <a:r>
              <a:rPr lang="en-IN" dirty="0"/>
              <a:t>         </a:t>
            </a:r>
          </a:p>
        </p:txBody>
      </p:sp>
      <p:sp>
        <p:nvSpPr>
          <p:cNvPr id="6" name="Subtitle 5">
            <a:extLst>
              <a:ext uri="{FF2B5EF4-FFF2-40B4-BE49-F238E27FC236}">
                <a16:creationId xmlns:a16="http://schemas.microsoft.com/office/drawing/2014/main" id="{AA91A28C-1691-6F6F-9D60-595B3A5A9FE2}"/>
              </a:ext>
            </a:extLst>
          </p:cNvPr>
          <p:cNvSpPr>
            <a:spLocks noGrp="1"/>
          </p:cNvSpPr>
          <p:nvPr>
            <p:ph type="subTitle"/>
          </p:nvPr>
        </p:nvSpPr>
        <p:spPr/>
        <p:txBody>
          <a:bodyPr/>
          <a:lstStyle/>
          <a:p>
            <a:endParaRPr lang="en-IN" dirty="0"/>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34776</TotalTime>
  <Words>838</Words>
  <Application>Microsoft Office PowerPoint</Application>
  <PresentationFormat>On-screen Show (4:3)</PresentationFormat>
  <Paragraphs>131</Paragraphs>
  <Slides>13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                 objectives</vt:lpstr>
      <vt:lpstr>        LITERATURE REVIEW</vt:lpstr>
      <vt:lpstr>      METHODOLOGY</vt:lpstr>
      <vt:lpstr>                AI TOOLS</vt:lpstr>
      <vt:lpstr>RESULTS AND FINDINGS</vt:lpstr>
      <vt:lpstr>        KEY FACTORS</vt:lpstr>
      <vt:lpstr>           CHALLENGES</vt:lpstr>
      <vt:lpstr>        FUTURE WORK</vt:lpstr>
      <vt:lpstr>          CONCLUSION</vt:lpstr>
      <vt:lpstr>            REFERENCE</vt:lpstr>
      <vt:lpstr>         </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ADITYA CHAUHAN</cp:lastModifiedBy>
  <cp:revision>2301</cp:revision>
  <dcterms:created xsi:type="dcterms:W3CDTF">2010-04-09T07:36:15Z</dcterms:created>
  <dcterms:modified xsi:type="dcterms:W3CDTF">2026-05-07T05:48:49Z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