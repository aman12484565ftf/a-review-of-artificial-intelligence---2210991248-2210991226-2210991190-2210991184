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70" r:id="rId2"/>
    <p:sldId id="257" r:id="rId3"/>
    <p:sldId id="258" r:id="rId4"/>
    <p:sldId id="259" r:id="rId5"/>
    <p:sldId id="260" r:id="rId6"/>
    <p:sldId id="261" r:id="rId7"/>
    <p:sldId id="262" r:id="rId8"/>
    <p:sldId id="267" r:id="rId9"/>
    <p:sldId id="268" r:id="rId10"/>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77B2C9-8C74-4F93-B37A-212629F3261D}" v="327" dt="2026-05-15T05:43:21.86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8AF92865-2A17-4EF8-A400-94B9A4F24184}" type="datetimeFigureOut">
              <a:rPr lang="en-IN" smtClean="0"/>
              <a:t>14-05-2026</a:t>
            </a:fld>
            <a:endParaRPr lang="en-IN"/>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1172ADE4-7E8B-4E52-8E4E-3A578DABF19C}" type="slidenum">
              <a:rPr lang="en-IN" smtClean="0"/>
              <a:t>‹#›</a:t>
            </a:fld>
            <a:endParaRPr lang="en-IN"/>
          </a:p>
        </p:txBody>
      </p:sp>
    </p:spTree>
    <p:extLst>
      <p:ext uri="{BB962C8B-B14F-4D97-AF65-F5344CB8AC3E}">
        <p14:creationId xmlns:p14="http://schemas.microsoft.com/office/powerpoint/2010/main" val="563748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32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5/14/2026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5/14/2026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5/14/2026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564037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4.jpg"/><Relationship Id="rId5" Type="http://schemas.openxmlformats.org/officeDocument/2006/relationships/slideLayout" Target="../slideLayouts/slideLayout5.xml"/><Relationship Id="rId10" Type="http://schemas.openxmlformats.org/officeDocument/2006/relationships/image" Target="../media/image3.jpg"/><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838200"/>
          </a:xfrm>
          <a:custGeom>
            <a:avLst/>
            <a:gdLst/>
            <a:ahLst/>
            <a:cxnLst/>
            <a:rect l="l" t="t" r="r" b="b"/>
            <a:pathLst>
              <a:path w="9144000" h="838200">
                <a:moveTo>
                  <a:pt x="9144000" y="0"/>
                </a:moveTo>
                <a:lnTo>
                  <a:pt x="0" y="0"/>
                </a:lnTo>
                <a:lnTo>
                  <a:pt x="0" y="838200"/>
                </a:lnTo>
                <a:lnTo>
                  <a:pt x="9144000" y="838200"/>
                </a:lnTo>
                <a:lnTo>
                  <a:pt x="9144000" y="0"/>
                </a:lnTo>
                <a:close/>
              </a:path>
            </a:pathLst>
          </a:custGeom>
          <a:solidFill>
            <a:srgbClr val="FF3300"/>
          </a:solidFill>
        </p:spPr>
        <p:txBody>
          <a:bodyPr wrap="square" lIns="0" tIns="0" rIns="0" bIns="0" rtlCol="0"/>
          <a:lstStyle/>
          <a:p>
            <a:endParaRPr/>
          </a:p>
        </p:txBody>
      </p:sp>
      <p:pic>
        <p:nvPicPr>
          <p:cNvPr id="17" name="bg object 17"/>
          <p:cNvPicPr/>
          <p:nvPr/>
        </p:nvPicPr>
        <p:blipFill>
          <a:blip r:embed="rId8" cstate="print"/>
          <a:stretch>
            <a:fillRect/>
          </a:stretch>
        </p:blipFill>
        <p:spPr>
          <a:xfrm>
            <a:off x="0" y="6701027"/>
            <a:ext cx="9143238" cy="156210"/>
          </a:xfrm>
          <a:prstGeom prst="rect">
            <a:avLst/>
          </a:prstGeom>
        </p:spPr>
      </p:pic>
      <p:pic>
        <p:nvPicPr>
          <p:cNvPr id="18" name="bg object 18"/>
          <p:cNvPicPr/>
          <p:nvPr/>
        </p:nvPicPr>
        <p:blipFill>
          <a:blip r:embed="rId9" cstate="print"/>
          <a:stretch>
            <a:fillRect/>
          </a:stretch>
        </p:blipFill>
        <p:spPr>
          <a:xfrm>
            <a:off x="6553200" y="228600"/>
            <a:ext cx="2057400" cy="635000"/>
          </a:xfrm>
          <a:prstGeom prst="rect">
            <a:avLst/>
          </a:prstGeom>
        </p:spPr>
      </p:pic>
      <p:sp>
        <p:nvSpPr>
          <p:cNvPr id="19" name="bg object 19"/>
          <p:cNvSpPr/>
          <p:nvPr/>
        </p:nvSpPr>
        <p:spPr>
          <a:xfrm>
            <a:off x="6146800" y="0"/>
            <a:ext cx="2997200" cy="838200"/>
          </a:xfrm>
          <a:custGeom>
            <a:avLst/>
            <a:gdLst/>
            <a:ahLst/>
            <a:cxnLst/>
            <a:rect l="l" t="t" r="r" b="b"/>
            <a:pathLst>
              <a:path w="2997200" h="838200">
                <a:moveTo>
                  <a:pt x="2997200" y="0"/>
                </a:moveTo>
                <a:lnTo>
                  <a:pt x="0" y="0"/>
                </a:lnTo>
                <a:lnTo>
                  <a:pt x="0" y="838200"/>
                </a:lnTo>
                <a:lnTo>
                  <a:pt x="2997200" y="838200"/>
                </a:lnTo>
                <a:lnTo>
                  <a:pt x="2997200" y="0"/>
                </a:lnTo>
                <a:close/>
              </a:path>
            </a:pathLst>
          </a:custGeom>
          <a:solidFill>
            <a:srgbClr val="FF3300"/>
          </a:solidFill>
        </p:spPr>
        <p:txBody>
          <a:bodyPr wrap="square" lIns="0" tIns="0" rIns="0" bIns="0" rtlCol="0"/>
          <a:lstStyle/>
          <a:p>
            <a:endParaRPr/>
          </a:p>
        </p:txBody>
      </p:sp>
      <p:pic>
        <p:nvPicPr>
          <p:cNvPr id="20" name="bg object 20"/>
          <p:cNvPicPr/>
          <p:nvPr/>
        </p:nvPicPr>
        <p:blipFill>
          <a:blip r:embed="rId10" cstate="print"/>
          <a:stretch>
            <a:fillRect/>
          </a:stretch>
        </p:blipFill>
        <p:spPr>
          <a:xfrm>
            <a:off x="6553200" y="228600"/>
            <a:ext cx="2057400" cy="635000"/>
          </a:xfrm>
          <a:prstGeom prst="rect">
            <a:avLst/>
          </a:prstGeom>
        </p:spPr>
      </p:pic>
      <p:sp>
        <p:nvSpPr>
          <p:cNvPr id="21" name="bg object 21"/>
          <p:cNvSpPr/>
          <p:nvPr/>
        </p:nvSpPr>
        <p:spPr>
          <a:xfrm>
            <a:off x="6527800" y="190500"/>
            <a:ext cx="2076450" cy="685800"/>
          </a:xfrm>
          <a:custGeom>
            <a:avLst/>
            <a:gdLst/>
            <a:ahLst/>
            <a:cxnLst/>
            <a:rect l="l" t="t" r="r" b="b"/>
            <a:pathLst>
              <a:path w="2076450" h="685800">
                <a:moveTo>
                  <a:pt x="2076450" y="0"/>
                </a:moveTo>
                <a:lnTo>
                  <a:pt x="0" y="0"/>
                </a:lnTo>
                <a:lnTo>
                  <a:pt x="0" y="685800"/>
                </a:lnTo>
                <a:lnTo>
                  <a:pt x="2076450" y="685800"/>
                </a:lnTo>
                <a:lnTo>
                  <a:pt x="2076450" y="0"/>
                </a:lnTo>
                <a:close/>
              </a:path>
            </a:pathLst>
          </a:custGeom>
          <a:solidFill>
            <a:srgbClr val="FFFFFF"/>
          </a:solidFill>
        </p:spPr>
        <p:txBody>
          <a:bodyPr wrap="square" lIns="0" tIns="0" rIns="0" bIns="0" rtlCol="0"/>
          <a:lstStyle/>
          <a:p>
            <a:endParaRPr/>
          </a:p>
        </p:txBody>
      </p:sp>
      <p:pic>
        <p:nvPicPr>
          <p:cNvPr id="22" name="bg object 22"/>
          <p:cNvPicPr/>
          <p:nvPr/>
        </p:nvPicPr>
        <p:blipFill>
          <a:blip r:embed="rId11" cstate="print"/>
          <a:stretch>
            <a:fillRect/>
          </a:stretch>
        </p:blipFill>
        <p:spPr>
          <a:xfrm>
            <a:off x="6553200" y="228600"/>
            <a:ext cx="1920875" cy="609600"/>
          </a:xfrm>
          <a:prstGeom prst="rect">
            <a:avLst/>
          </a:prstGeom>
        </p:spPr>
      </p:pic>
      <p:sp>
        <p:nvSpPr>
          <p:cNvPr id="2" name="Holder 2"/>
          <p:cNvSpPr>
            <a:spLocks noGrp="1"/>
          </p:cNvSpPr>
          <p:nvPr>
            <p:ph type="title"/>
          </p:nvPr>
        </p:nvSpPr>
        <p:spPr>
          <a:xfrm>
            <a:off x="78739" y="186639"/>
            <a:ext cx="4778375" cy="607237"/>
          </a:xfrm>
          <a:prstGeom prst="rect">
            <a:avLst/>
          </a:prstGeom>
        </p:spPr>
        <p:txBody>
          <a:bodyPr wrap="square" lIns="0" tIns="0" rIns="0" bIns="0">
            <a:spAutoFit/>
          </a:bodyPr>
          <a:lstStyle>
            <a:lvl1pPr>
              <a:defRPr sz="32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258267" y="1076959"/>
            <a:ext cx="8494395" cy="2160270"/>
          </a:xfrm>
          <a:prstGeom prst="rect">
            <a:avLst/>
          </a:prstGeom>
        </p:spPr>
        <p:txBody>
          <a:bodyPr wrap="square" lIns="0" tIns="0" rIns="0" bIns="0">
            <a:spAutoFit/>
          </a:bodyPr>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5/14/2026</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717485"/>
          </a:xfrm>
          <a:prstGeom prst="rect">
            <a:avLst/>
          </a:prstGeom>
          <a:noFill/>
          <a:ln w="9360">
            <a:noFill/>
          </a:ln>
        </p:spPr>
        <p:txBody>
          <a:bodyPr lIns="91440" tIns="45720" rIns="91440" bIns="45720" anchor="t">
            <a:noAutofit/>
          </a:bodyPr>
          <a:lstStyle/>
          <a:p>
            <a:pPr algn="ctr">
              <a:lnSpc>
                <a:spcPct val="100000"/>
              </a:lnSpc>
              <a:spcBef>
                <a:spcPts val="400"/>
              </a:spcBef>
            </a:pPr>
            <a:r>
              <a:rPr lang="en-IN"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dirty="0">
                <a:latin typeface="Times New Roman" panose="02020603050405020304" pitchFamily="18" charset="0"/>
                <a:ea typeface="Calibri" panose="020F0502020204030204" pitchFamily="34" charset="0"/>
                <a:cs typeface="Times New Roman" panose="02020603050405020304" pitchFamily="18" charset="0"/>
              </a:rPr>
              <a:t>Co-Op Project at Industry (Module-2) </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spcBef>
                <a:spcPts val="400"/>
              </a:spcBef>
            </a:pPr>
            <a:r>
              <a:rPr lang="en-IN" sz="1800" b="1" dirty="0"/>
              <a:t>Digital Ghosting and Psychological Stress: Exploring AI-Mediated Social Rejection</a:t>
            </a:r>
            <a:endParaRPr lang="en-US" sz="2000" i="1" spc="-1" dirty="0">
              <a:latin typeface="Times New Roman" panose="02020603050405020304" pitchFamily="18" charset="0"/>
              <a:ea typeface="Calibri" panose="020F0502020204030204" pitchFamily="34" charset="0"/>
              <a:cs typeface="Times New Roman" panose="02020603050405020304" pitchFamily="18" charset="0"/>
            </a:endParaRPr>
          </a:p>
          <a:p>
            <a:pPr algn="ctr">
              <a:spcBef>
                <a:spcPts val="400"/>
              </a:spcBef>
            </a:pPr>
            <a:r>
              <a:rPr lang="en-US" sz="2000" b="0" strike="noStrike" spc="-1" dirty="0">
                <a:solidFill>
                  <a:srgbClr val="000000"/>
                </a:solidFill>
                <a:latin typeface="Times New Roman"/>
                <a:ea typeface="MS PGothic"/>
                <a:cs typeface="Times New Roman"/>
              </a:rPr>
              <a:t> </a:t>
            </a:r>
            <a:br>
              <a:rPr lang="en-US" sz="2000" b="0" strike="noStrike" spc="-1" dirty="0">
                <a:latin typeface="Times New Roman"/>
                <a:ea typeface="MS PGothic"/>
                <a:cs typeface="Times New Roman"/>
              </a:rPr>
            </a:br>
            <a:r>
              <a:rPr lang="en-US" sz="2000" spc="-1">
                <a:solidFill>
                  <a:srgbClr val="000000"/>
                </a:solidFill>
                <a:latin typeface="Times New Roman"/>
                <a:ea typeface="MS PGothic"/>
                <a:cs typeface="Times New Roman"/>
              </a:rPr>
              <a:t>Name: Akshat Khosla, Aman Sharma, Aditya Aggarwal, Aditya Chauhan</a:t>
            </a:r>
          </a:p>
          <a:p>
            <a:pPr algn="ctr">
              <a:lnSpc>
                <a:spcPct val="100000"/>
              </a:lnSpc>
              <a:spcBef>
                <a:spcPts val="400"/>
              </a:spcBef>
            </a:pPr>
            <a:r>
              <a:rPr lang="en-US" sz="2000" b="0" strike="noStrike" spc="-1">
                <a:solidFill>
                  <a:srgbClr val="000000"/>
                </a:solidFill>
                <a:latin typeface="Times New Roman"/>
                <a:ea typeface="MS PGothic"/>
                <a:cs typeface="Times New Roman"/>
              </a:rPr>
              <a:t>Ro</a:t>
            </a:r>
            <a:r>
              <a:rPr lang="en-US" sz="2000" spc="-1">
                <a:solidFill>
                  <a:srgbClr val="000000"/>
                </a:solidFill>
                <a:latin typeface="Times New Roman"/>
                <a:ea typeface="MS PGothic"/>
                <a:cs typeface="Times New Roman"/>
              </a:rPr>
              <a:t>ll Number.: 2210991226, 2210991248,2210991184,2210991190</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&lt;</a:t>
            </a:r>
            <a:r>
              <a:rPr lang="en-US" sz="2000" spc="-1" dirty="0">
                <a:solidFill>
                  <a:srgbClr val="000000"/>
                </a:solidFill>
                <a:latin typeface="Times New Roman" panose="02020603050405020304" pitchFamily="18" charset="0"/>
                <a:ea typeface="MS PGothic"/>
                <a:cs typeface="Times New Roman" panose="02020603050405020304" pitchFamily="18" charset="0"/>
              </a:rPr>
              <a:t>Dr. Shikha Tuteja</a:t>
            </a: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&gt;</a:t>
            </a:r>
          </a:p>
          <a:p>
            <a:pPr algn="ctr">
              <a:spcBef>
                <a:spcPts val="400"/>
              </a:spcBef>
            </a:pP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06222" rIns="0" bIns="0" rtlCol="0">
            <a:spAutoFit/>
          </a:bodyPr>
          <a:lstStyle/>
          <a:p>
            <a:pPr marL="335915">
              <a:lnSpc>
                <a:spcPct val="100000"/>
              </a:lnSpc>
              <a:spcBef>
                <a:spcPts val="100"/>
              </a:spcBef>
            </a:pPr>
            <a:r>
              <a:rPr spc="-35" dirty="0"/>
              <a:t>Table</a:t>
            </a:r>
            <a:r>
              <a:rPr spc="-90" dirty="0"/>
              <a:t> </a:t>
            </a:r>
            <a:r>
              <a:rPr dirty="0"/>
              <a:t>of</a:t>
            </a:r>
            <a:r>
              <a:rPr spc="-70" dirty="0"/>
              <a:t> </a:t>
            </a:r>
            <a:r>
              <a:rPr spc="-10" dirty="0"/>
              <a:t>Content</a:t>
            </a:r>
          </a:p>
        </p:txBody>
      </p:sp>
      <p:sp>
        <p:nvSpPr>
          <p:cNvPr id="3" name="object 3"/>
          <p:cNvSpPr txBox="1"/>
          <p:nvPr/>
        </p:nvSpPr>
        <p:spPr>
          <a:xfrm>
            <a:off x="381000" y="1018373"/>
            <a:ext cx="3383915" cy="5027658"/>
          </a:xfrm>
          <a:prstGeom prst="rect">
            <a:avLst/>
          </a:prstGeom>
        </p:spPr>
        <p:txBody>
          <a:bodyPr vert="horz" wrap="square" lIns="0" tIns="13335" rIns="0" bIns="0" rtlCol="0">
            <a:spAutoFit/>
          </a:bodyPr>
          <a:lstStyle/>
          <a:p>
            <a:pPr marL="431165" indent="-418465">
              <a:lnSpc>
                <a:spcPct val="100000"/>
              </a:lnSpc>
              <a:spcBef>
                <a:spcPts val="105"/>
              </a:spcBef>
              <a:buSzPct val="120000"/>
              <a:buFont typeface="Wingdings"/>
              <a:buChar char=""/>
              <a:tabLst>
                <a:tab pos="431165" algn="l"/>
              </a:tabLst>
            </a:pPr>
            <a:r>
              <a:rPr sz="2000" spc="-10" dirty="0">
                <a:latin typeface="Times New Roman"/>
                <a:cs typeface="Times New Roman"/>
              </a:rPr>
              <a:t>Introduction</a:t>
            </a:r>
            <a:endParaRPr sz="2000" dirty="0">
              <a:latin typeface="Times New Roman"/>
              <a:cs typeface="Times New Roman"/>
            </a:endParaRPr>
          </a:p>
          <a:p>
            <a:pPr>
              <a:lnSpc>
                <a:spcPct val="100000"/>
              </a:lnSpc>
              <a:spcBef>
                <a:spcPts val="195"/>
              </a:spcBef>
              <a:buFont typeface="Wingdings"/>
              <a:buChar char=""/>
            </a:pPr>
            <a:endParaRPr sz="2000" dirty="0">
              <a:latin typeface="Times New Roman"/>
              <a:cs typeface="Times New Roman"/>
            </a:endParaRPr>
          </a:p>
          <a:p>
            <a:pPr marL="419100" indent="-406400">
              <a:lnSpc>
                <a:spcPct val="100000"/>
              </a:lnSpc>
              <a:buFont typeface="Wingdings"/>
              <a:buChar char=""/>
              <a:tabLst>
                <a:tab pos="419100" algn="l"/>
              </a:tabLst>
            </a:pPr>
            <a:r>
              <a:rPr sz="2000" dirty="0">
                <a:latin typeface="Times New Roman"/>
                <a:cs typeface="Times New Roman"/>
              </a:rPr>
              <a:t>Problem</a:t>
            </a:r>
            <a:r>
              <a:rPr sz="2000" spc="-45" dirty="0">
                <a:latin typeface="Times New Roman"/>
                <a:cs typeface="Times New Roman"/>
              </a:rPr>
              <a:t> </a:t>
            </a:r>
            <a:r>
              <a:rPr sz="2000" spc="-10" dirty="0">
                <a:latin typeface="Times New Roman"/>
                <a:cs typeface="Times New Roman"/>
              </a:rPr>
              <a:t>Statement</a:t>
            </a:r>
            <a:endParaRPr lang="en-IN" sz="2000" spc="-10" dirty="0">
              <a:latin typeface="Times New Roman"/>
              <a:cs typeface="Times New Roman"/>
            </a:endParaRPr>
          </a:p>
          <a:p>
            <a:pPr marL="419100" indent="-406400">
              <a:lnSpc>
                <a:spcPct val="100000"/>
              </a:lnSpc>
              <a:buFont typeface="Wingdings"/>
              <a:buChar char=""/>
              <a:tabLst>
                <a:tab pos="419100" algn="l"/>
              </a:tabLst>
            </a:pPr>
            <a:endParaRPr lang="en-IN" sz="2000" spc="-10" dirty="0">
              <a:latin typeface="Times New Roman"/>
              <a:cs typeface="Times New Roman"/>
            </a:endParaRPr>
          </a:p>
          <a:p>
            <a:pPr marL="419100" indent="-406400">
              <a:lnSpc>
                <a:spcPct val="100000"/>
              </a:lnSpc>
              <a:buFont typeface="Wingdings"/>
              <a:buChar char=""/>
              <a:tabLst>
                <a:tab pos="419100" algn="l"/>
              </a:tabLst>
            </a:pPr>
            <a:r>
              <a:rPr lang="en-IN" sz="2000" spc="-10" dirty="0">
                <a:latin typeface="Times New Roman"/>
                <a:cs typeface="Times New Roman"/>
              </a:rPr>
              <a:t>Methodology</a:t>
            </a:r>
            <a:endParaRPr sz="2000" dirty="0">
              <a:latin typeface="Times New Roman"/>
              <a:cs typeface="Times New Roman"/>
            </a:endParaRPr>
          </a:p>
          <a:p>
            <a:pPr>
              <a:lnSpc>
                <a:spcPct val="100000"/>
              </a:lnSpc>
              <a:spcBef>
                <a:spcPts val="100"/>
              </a:spcBef>
              <a:buFont typeface="Wingdings"/>
              <a:buChar char=""/>
            </a:pPr>
            <a:endParaRPr sz="2000" dirty="0">
              <a:latin typeface="Times New Roman"/>
              <a:cs typeface="Times New Roman"/>
            </a:endParaRPr>
          </a:p>
          <a:p>
            <a:pPr marL="354965" indent="-342265">
              <a:lnSpc>
                <a:spcPct val="100000"/>
              </a:lnSpc>
              <a:buFont typeface="Wingdings"/>
              <a:buChar char=""/>
              <a:tabLst>
                <a:tab pos="354965" algn="l"/>
              </a:tabLst>
            </a:pPr>
            <a:r>
              <a:rPr sz="2000" spc="-10" dirty="0">
                <a:latin typeface="Times New Roman"/>
                <a:cs typeface="Times New Roman"/>
              </a:rPr>
              <a:t>T</a:t>
            </a:r>
            <a:r>
              <a:rPr lang="en-IN" sz="2000" spc="-10" dirty="0" err="1">
                <a:latin typeface="Times New Roman"/>
                <a:cs typeface="Times New Roman"/>
              </a:rPr>
              <a:t>ools</a:t>
            </a:r>
            <a:r>
              <a:rPr lang="en-IN" sz="2000" spc="-10" dirty="0">
                <a:latin typeface="Times New Roman"/>
                <a:cs typeface="Times New Roman"/>
              </a:rPr>
              <a:t> and Technologies</a:t>
            </a:r>
          </a:p>
          <a:p>
            <a:pPr marL="354965" indent="-342265">
              <a:lnSpc>
                <a:spcPct val="100000"/>
              </a:lnSpc>
              <a:buFont typeface="Wingdings"/>
              <a:buChar char=""/>
              <a:tabLst>
                <a:tab pos="354965" algn="l"/>
              </a:tabLst>
            </a:pPr>
            <a:endParaRPr lang="en-IN" sz="2000" spc="-10" dirty="0">
              <a:latin typeface="Times New Roman"/>
              <a:cs typeface="Times New Roman"/>
            </a:endParaRPr>
          </a:p>
          <a:p>
            <a:pPr marL="354965" indent="-342265">
              <a:lnSpc>
                <a:spcPct val="100000"/>
              </a:lnSpc>
              <a:buFont typeface="Wingdings"/>
              <a:buChar char=""/>
              <a:tabLst>
                <a:tab pos="354965" algn="l"/>
              </a:tabLst>
            </a:pPr>
            <a:r>
              <a:rPr lang="en-IN" sz="2000" spc="-10" dirty="0">
                <a:latin typeface="Times New Roman"/>
                <a:cs typeface="Times New Roman"/>
              </a:rPr>
              <a:t>Findings and Outcomes</a:t>
            </a:r>
            <a:endParaRPr sz="2000" dirty="0">
              <a:latin typeface="Times New Roman"/>
              <a:cs typeface="Times New Roman"/>
            </a:endParaRPr>
          </a:p>
          <a:p>
            <a:pPr>
              <a:lnSpc>
                <a:spcPct val="100000"/>
              </a:lnSpc>
              <a:spcBef>
                <a:spcPts val="105"/>
              </a:spcBef>
            </a:pPr>
            <a:endParaRPr sz="2000" dirty="0">
              <a:latin typeface="Times New Roman"/>
              <a:cs typeface="Times New Roman"/>
            </a:endParaRPr>
          </a:p>
          <a:p>
            <a:pPr marL="354965" indent="-342265">
              <a:lnSpc>
                <a:spcPct val="100000"/>
              </a:lnSpc>
              <a:buFont typeface="Wingdings"/>
              <a:buChar char=""/>
              <a:tabLst>
                <a:tab pos="354965" algn="l"/>
              </a:tabLst>
            </a:pPr>
            <a:r>
              <a:rPr sz="2000" dirty="0">
                <a:latin typeface="Times New Roman"/>
                <a:cs typeface="Times New Roman"/>
              </a:rPr>
              <a:t>Code</a:t>
            </a:r>
            <a:r>
              <a:rPr sz="2000" spc="-5" dirty="0">
                <a:latin typeface="Times New Roman"/>
                <a:cs typeface="Times New Roman"/>
              </a:rPr>
              <a:t> </a:t>
            </a:r>
            <a:r>
              <a:rPr sz="2000" spc="-10" dirty="0">
                <a:latin typeface="Times New Roman"/>
                <a:cs typeface="Times New Roman"/>
              </a:rPr>
              <a:t>Snippets</a:t>
            </a:r>
            <a:endParaRPr sz="2000" dirty="0">
              <a:latin typeface="Times New Roman"/>
              <a:cs typeface="Times New Roman"/>
            </a:endParaRPr>
          </a:p>
          <a:p>
            <a:pPr>
              <a:lnSpc>
                <a:spcPct val="100000"/>
              </a:lnSpc>
              <a:spcBef>
                <a:spcPts val="100"/>
              </a:spcBef>
              <a:buFont typeface="Wingdings"/>
              <a:buChar char=""/>
            </a:pPr>
            <a:endParaRPr sz="2000" dirty="0">
              <a:latin typeface="Times New Roman"/>
              <a:cs typeface="Times New Roman"/>
            </a:endParaRPr>
          </a:p>
          <a:p>
            <a:pPr marL="419100" indent="-406400">
              <a:lnSpc>
                <a:spcPct val="100000"/>
              </a:lnSpc>
              <a:buFont typeface="Wingdings"/>
              <a:buChar char=""/>
              <a:tabLst>
                <a:tab pos="419100" algn="l"/>
              </a:tabLst>
            </a:pPr>
            <a:r>
              <a:rPr sz="2000" spc="-10" dirty="0">
                <a:latin typeface="Times New Roman"/>
                <a:cs typeface="Times New Roman"/>
              </a:rPr>
              <a:t>Conclusion</a:t>
            </a:r>
            <a:r>
              <a:rPr lang="en-IN" sz="2000" spc="-10" dirty="0">
                <a:latin typeface="Times New Roman"/>
                <a:cs typeface="Times New Roman"/>
              </a:rPr>
              <a:t> and Future Scope</a:t>
            </a:r>
            <a:endParaRPr sz="2000" dirty="0">
              <a:latin typeface="Times New Roman"/>
              <a:cs typeface="Times New Roman"/>
            </a:endParaRPr>
          </a:p>
          <a:p>
            <a:pPr>
              <a:lnSpc>
                <a:spcPct val="100000"/>
              </a:lnSpc>
              <a:spcBef>
                <a:spcPts val="100"/>
              </a:spcBef>
              <a:buFont typeface="Wingdings"/>
              <a:buChar char=""/>
            </a:pPr>
            <a:endParaRPr sz="2000" dirty="0">
              <a:latin typeface="Times New Roman"/>
              <a:cs typeface="Times New Roman"/>
            </a:endParaRPr>
          </a:p>
          <a:p>
            <a:pPr marL="419100" indent="-406400">
              <a:lnSpc>
                <a:spcPct val="100000"/>
              </a:lnSpc>
              <a:buFont typeface="Wingdings"/>
              <a:buChar char=""/>
              <a:tabLst>
                <a:tab pos="419100" algn="l"/>
              </a:tabLst>
            </a:pPr>
            <a:r>
              <a:rPr sz="2000" dirty="0">
                <a:latin typeface="Times New Roman"/>
                <a:cs typeface="Times New Roman"/>
              </a:rPr>
              <a:t>References/Links</a:t>
            </a:r>
            <a:r>
              <a:rPr sz="2000" spc="-70" dirty="0">
                <a:latin typeface="Times New Roman"/>
                <a:cs typeface="Times New Roman"/>
              </a:rPr>
              <a:t> </a:t>
            </a:r>
            <a:r>
              <a:rPr sz="2000" spc="-20" dirty="0">
                <a:latin typeface="Times New Roman"/>
                <a:cs typeface="Times New Roman"/>
              </a:rPr>
              <a:t>used</a:t>
            </a:r>
            <a:endParaRPr sz="2000" dirty="0">
              <a:latin typeface="Times New Roman"/>
              <a:cs typeface="Times New Roman"/>
            </a:endParaRPr>
          </a:p>
          <a:p>
            <a:pPr>
              <a:lnSpc>
                <a:spcPct val="100000"/>
              </a:lnSpc>
              <a:spcBef>
                <a:spcPts val="100"/>
              </a:spcBef>
            </a:pPr>
            <a:endParaRPr sz="200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739" y="186639"/>
            <a:ext cx="4778375" cy="505908"/>
          </a:xfrm>
          <a:prstGeom prst="rect">
            <a:avLst/>
          </a:prstGeom>
        </p:spPr>
        <p:txBody>
          <a:bodyPr vert="horz" wrap="square" lIns="0" tIns="13335" rIns="0" bIns="0" rtlCol="0">
            <a:spAutoFit/>
          </a:bodyPr>
          <a:lstStyle/>
          <a:p>
            <a:pPr marL="12700">
              <a:lnSpc>
                <a:spcPct val="100000"/>
              </a:lnSpc>
              <a:spcBef>
                <a:spcPts val="105"/>
              </a:spcBef>
            </a:pPr>
            <a:r>
              <a:rPr spc="-10" dirty="0"/>
              <a:t>Introduction</a:t>
            </a:r>
          </a:p>
        </p:txBody>
      </p:sp>
      <p:sp>
        <p:nvSpPr>
          <p:cNvPr id="3" name="object 3"/>
          <p:cNvSpPr txBox="1"/>
          <p:nvPr/>
        </p:nvSpPr>
        <p:spPr>
          <a:xfrm>
            <a:off x="304800" y="990600"/>
            <a:ext cx="8136230" cy="4911601"/>
          </a:xfrm>
          <a:prstGeom prst="rect">
            <a:avLst/>
          </a:prstGeom>
        </p:spPr>
        <p:txBody>
          <a:bodyPr vert="horz" wrap="square" lIns="0" tIns="12700" rIns="0" bIns="0" rtlCol="0" anchor="t">
            <a:spAutoFit/>
          </a:bodyPr>
          <a:lstStyle/>
          <a:p>
            <a:pPr marL="298450" marR="59055" indent="-285750" algn="l">
              <a:lnSpc>
                <a:spcPct val="150000"/>
              </a:lnSpc>
              <a:spcBef>
                <a:spcPts val="100"/>
              </a:spcBef>
              <a:buFont typeface="Arial" panose="020B0604020202020204" pitchFamily="34" charset="0"/>
              <a:buChar char="•"/>
              <a:tabLst>
                <a:tab pos="355600" algn="l"/>
              </a:tabLst>
            </a:pPr>
            <a:r>
              <a:rPr lang="en-US" dirty="0">
                <a:latin typeface="Times New Roman"/>
                <a:cs typeface="Times New Roman"/>
              </a:rPr>
              <a:t>Advancements in Artificial Intelligence (AI) have significantly transformed modern software development practices. Unlike traditional development, AI-powered tools such as GitHub Copilot and Amazon Q Developer actively assist developers in coding, testing, debugging, and improving productivity throughout the software development lifecycle.</a:t>
            </a:r>
            <a:endParaRPr lang="en-US" dirty="0">
              <a:solidFill>
                <a:srgbClr val="000000"/>
              </a:solidFill>
              <a:latin typeface="Times New Roman"/>
              <a:cs typeface="Times New Roman"/>
            </a:endParaRPr>
          </a:p>
          <a:p>
            <a:pPr marL="12700" marR="59055" algn="l">
              <a:lnSpc>
                <a:spcPct val="150000"/>
              </a:lnSpc>
              <a:spcBef>
                <a:spcPts val="100"/>
              </a:spcBef>
              <a:tabLst>
                <a:tab pos="355600" algn="l"/>
              </a:tabLst>
            </a:pPr>
            <a:endParaRPr lang="en-US" dirty="0">
              <a:latin typeface="Times New Roman"/>
              <a:cs typeface="Times New Roman"/>
            </a:endParaRPr>
          </a:p>
          <a:p>
            <a:pPr marL="298450" marR="59055" indent="-285750" algn="l">
              <a:lnSpc>
                <a:spcPct val="150000"/>
              </a:lnSpc>
              <a:spcBef>
                <a:spcPts val="100"/>
              </a:spcBef>
              <a:buFont typeface="Arial" panose="020B0604020202020204" pitchFamily="34" charset="0"/>
              <a:buChar char="•"/>
              <a:tabLst>
                <a:tab pos="355600" algn="l"/>
              </a:tabLst>
            </a:pPr>
            <a:r>
              <a:rPr lang="en-US">
                <a:latin typeface="Times New Roman"/>
                <a:cs typeface="Times New Roman"/>
              </a:rPr>
              <a:t>However, this transformation also introduces challenges such as security risks, lack of transparency, and overdependence on AI-generated code. This research explores both the benefits and challenges of AI integration in software development using a data-driven approach.</a:t>
            </a:r>
          </a:p>
          <a:p>
            <a:pPr marL="298450" marR="59055" indent="-285750">
              <a:lnSpc>
                <a:spcPct val="150000"/>
              </a:lnSpc>
              <a:spcBef>
                <a:spcPts val="100"/>
              </a:spcBef>
              <a:buFont typeface="Arial" panose="020B0604020202020204" pitchFamily="34" charset="0"/>
              <a:buChar char="•"/>
              <a:tabLst>
                <a:tab pos="355600" algn="l"/>
              </a:tabLst>
            </a:pPr>
            <a:endParaRPr lang="en-US" dirty="0">
              <a:latin typeface="Times New Roman"/>
              <a:cs typeface="Times New Roman"/>
            </a:endParaRPr>
          </a:p>
          <a:p>
            <a:pPr marL="12700" marR="59055">
              <a:spcBef>
                <a:spcPts val="100"/>
              </a:spcBef>
              <a:tabLst>
                <a:tab pos="355600" algn="l"/>
              </a:tabLst>
            </a:pPr>
            <a:endParaRPr lang="en-US" dirty="0">
              <a:latin typeface="Times New Roman"/>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06222" rIns="0" bIns="0" rtlCol="0">
            <a:spAutoFit/>
          </a:bodyPr>
          <a:lstStyle/>
          <a:p>
            <a:pPr marL="264160">
              <a:lnSpc>
                <a:spcPct val="100000"/>
              </a:lnSpc>
              <a:spcBef>
                <a:spcPts val="100"/>
              </a:spcBef>
            </a:pPr>
            <a:r>
              <a:rPr dirty="0"/>
              <a:t>Problem</a:t>
            </a:r>
            <a:r>
              <a:rPr spc="-80" dirty="0"/>
              <a:t> </a:t>
            </a:r>
            <a:r>
              <a:rPr spc="-10" dirty="0"/>
              <a:t>Statement</a:t>
            </a:r>
          </a:p>
        </p:txBody>
      </p:sp>
      <p:sp>
        <p:nvSpPr>
          <p:cNvPr id="3" name="object 3"/>
          <p:cNvSpPr txBox="1"/>
          <p:nvPr/>
        </p:nvSpPr>
        <p:spPr>
          <a:xfrm>
            <a:off x="330200" y="1148841"/>
            <a:ext cx="8287384" cy="5320046"/>
          </a:xfrm>
          <a:prstGeom prst="rect">
            <a:avLst/>
          </a:prstGeom>
        </p:spPr>
        <p:txBody>
          <a:bodyPr vert="horz" wrap="square" lIns="0" tIns="13335" rIns="0" bIns="0" rtlCol="0" anchor="t">
            <a:spAutoFit/>
          </a:bodyPr>
          <a:lstStyle/>
          <a:p>
            <a:r>
              <a:rPr lang="en-US">
                <a:latin typeface="Times New Roman"/>
                <a:cs typeface="Times New Roman"/>
              </a:rPr>
              <a:t>Traditional software development relies on manual coding, testing, and debugging processes. However, with the rise of AI-powered development tools, developers increasingly depend on intelligent systems for code generation and automation. This shift introduces new challenges such as security risks, lack of transparency, and overdependence on AI-generated solutions.</a:t>
            </a:r>
            <a:endParaRPr lang="en-US">
              <a:solidFill>
                <a:srgbClr val="000000"/>
              </a:solidFill>
              <a:latin typeface="Times New Roman"/>
              <a:cs typeface="Times New Roman"/>
            </a:endParaRPr>
          </a:p>
          <a:p>
            <a:pPr>
              <a:buNone/>
            </a:pPr>
            <a:endParaRPr lang="en-US" dirty="0">
              <a:latin typeface="Times New Roman"/>
              <a:cs typeface="Times New Roman"/>
            </a:endParaRPr>
          </a:p>
          <a:p>
            <a:r>
              <a:rPr lang="en-US">
                <a:latin typeface="Times New Roman"/>
                <a:cs typeface="Times New Roman"/>
              </a:rPr>
              <a:t>When AI-powered development tools generate incorrect code, behave inconsistently, or produce unclear solutions, developers experience confusion and reliability concerns. Unlike traditional development methods, AI systems often do not fully explain their logic, making it difficult for developers to understand the generated output. This lack of transparency can lead to security risks, reduced trust, and overdependence on AI-generated solutions.</a:t>
            </a:r>
            <a:endParaRPr lang="en-US" dirty="0">
              <a:latin typeface="Times New Roman"/>
              <a:cs typeface="Times New Roman"/>
            </a:endParaRPr>
          </a:p>
          <a:p>
            <a:endParaRPr lang="en-US" dirty="0">
              <a:latin typeface="Times New Roman"/>
              <a:cs typeface="Times New Roman"/>
            </a:endParaRPr>
          </a:p>
          <a:p>
            <a:r>
              <a:rPr lang="en-US">
                <a:latin typeface="Times New Roman"/>
                <a:cs typeface="Times New Roman"/>
              </a:rPr>
              <a:t>AI-powered development tools offer efficiency and automation in software development. However, limited research focuses on challenges such as security risks, transparency issues, and dependency on AI-generated code. Therefore, this study analyzes the impact of AI integration on coding, testing, debugging, and overall developer productivity using a data-driven approach.</a:t>
            </a:r>
          </a:p>
          <a:p>
            <a:pPr marL="12700" marR="175260">
              <a:spcBef>
                <a:spcPts val="105"/>
              </a:spcBef>
              <a:buNone/>
            </a:pPr>
            <a:endParaRPr sz="2000" dirty="0">
              <a:latin typeface="Times New Roman"/>
              <a:cs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739" y="186639"/>
            <a:ext cx="4778375" cy="599702"/>
          </a:xfrm>
          <a:prstGeom prst="rect">
            <a:avLst/>
          </a:prstGeom>
        </p:spPr>
        <p:txBody>
          <a:bodyPr vert="horz" wrap="square" lIns="0" tIns="106222" rIns="0" bIns="0" rtlCol="0">
            <a:spAutoFit/>
          </a:bodyPr>
          <a:lstStyle/>
          <a:p>
            <a:pPr marL="264160">
              <a:lnSpc>
                <a:spcPct val="100000"/>
              </a:lnSpc>
              <a:spcBef>
                <a:spcPts val="100"/>
              </a:spcBef>
            </a:pPr>
            <a:r>
              <a:rPr lang="en-IN" spc="-10" dirty="0"/>
              <a:t>Methodology</a:t>
            </a:r>
            <a:endParaRPr spc="-10" dirty="0"/>
          </a:p>
        </p:txBody>
      </p:sp>
      <p:sp>
        <p:nvSpPr>
          <p:cNvPr id="3" name="object 3"/>
          <p:cNvSpPr txBox="1"/>
          <p:nvPr/>
        </p:nvSpPr>
        <p:spPr>
          <a:xfrm>
            <a:off x="306425" y="1110489"/>
            <a:ext cx="8151775" cy="3651641"/>
          </a:xfrm>
          <a:prstGeom prst="rect">
            <a:avLst/>
          </a:prstGeom>
        </p:spPr>
        <p:txBody>
          <a:bodyPr vert="horz" wrap="square" lIns="0" tIns="12065" rIns="0" bIns="0" rtlCol="0" anchor="t">
            <a:spAutoFit/>
          </a:bodyPr>
          <a:lstStyle/>
          <a:p>
            <a:pPr algn="l">
              <a:tabLst>
                <a:tab pos="355600" algn="l"/>
              </a:tabLst>
            </a:pPr>
            <a:r>
              <a:rPr lang="en-US" dirty="0">
                <a:latin typeface="Times New Roman"/>
                <a:cs typeface="Times New Roman"/>
              </a:rPr>
              <a:t>The research adopts a data-driven methodology to analyze the integration of Artificial Intelligence in modern software development practices. The study focuses on how AI-powered tools assist developers in coding, testing, debugging, and improving overall productivity. A comparative research approach was used, where different AI development tools and real-world software development practices were analyzed to evaluate their efficiency, accuracy, and impact on software development processes.</a:t>
            </a:r>
            <a:endParaRPr lang="en-US" dirty="0">
              <a:solidFill>
                <a:srgbClr val="000000"/>
              </a:solidFill>
              <a:latin typeface="Times New Roman"/>
              <a:cs typeface="Times New Roman"/>
            </a:endParaRPr>
          </a:p>
          <a:p>
            <a:pPr marL="12065" marR="5080">
              <a:spcBef>
                <a:spcPts val="95"/>
              </a:spcBef>
              <a:tabLst>
                <a:tab pos="355600" algn="l"/>
              </a:tabLst>
            </a:pPr>
            <a:endParaRPr lang="en-US" dirty="0">
              <a:solidFill>
                <a:srgbClr val="000000"/>
              </a:solidFill>
              <a:latin typeface="Times New Roman"/>
              <a:cs typeface="Times New Roman"/>
            </a:endParaRPr>
          </a:p>
          <a:p>
            <a:pPr marL="12065" marR="5080">
              <a:spcBef>
                <a:spcPts val="95"/>
              </a:spcBef>
              <a:tabLst>
                <a:tab pos="355600" algn="l"/>
              </a:tabLst>
            </a:pPr>
            <a:endParaRPr lang="en-US" dirty="0">
              <a:latin typeface="Times New Roman"/>
              <a:cs typeface="Times New Roman"/>
            </a:endParaRPr>
          </a:p>
          <a:p>
            <a:pPr marL="12065" marR="5080">
              <a:spcBef>
                <a:spcPts val="95"/>
              </a:spcBef>
              <a:tabLst>
                <a:tab pos="355600" algn="l"/>
              </a:tabLst>
            </a:pPr>
            <a:r>
              <a:rPr lang="en-US">
                <a:latin typeface="Times New Roman"/>
                <a:cs typeface="Times New Roman"/>
              </a:rPr>
              <a:t>For data collection, information was gathered from research papers, industry reports, and real-world case studies related to AI-powered software development tools. The study analyzed coding efficiency, testing speed, debugging performance, and developer productivity to understand the overall impact of AI integration in modern software development practices.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06222" rIns="0" bIns="0" rtlCol="0">
            <a:spAutoFit/>
          </a:bodyPr>
          <a:lstStyle/>
          <a:p>
            <a:pPr marL="264160">
              <a:lnSpc>
                <a:spcPct val="100000"/>
              </a:lnSpc>
              <a:spcBef>
                <a:spcPts val="100"/>
              </a:spcBef>
            </a:pPr>
            <a:r>
              <a:rPr spc="-25" dirty="0"/>
              <a:t>T</a:t>
            </a:r>
            <a:r>
              <a:rPr lang="en-IN" spc="-25" dirty="0" err="1"/>
              <a:t>ools</a:t>
            </a:r>
            <a:r>
              <a:rPr lang="en-IN" spc="-25" dirty="0"/>
              <a:t> and Technologies</a:t>
            </a:r>
            <a:endParaRPr spc="-10" dirty="0"/>
          </a:p>
        </p:txBody>
      </p:sp>
      <p:sp>
        <p:nvSpPr>
          <p:cNvPr id="3" name="object 3"/>
          <p:cNvSpPr txBox="1"/>
          <p:nvPr/>
        </p:nvSpPr>
        <p:spPr>
          <a:xfrm>
            <a:off x="330200" y="1150365"/>
            <a:ext cx="8296275" cy="3336811"/>
          </a:xfrm>
          <a:prstGeom prst="rect">
            <a:avLst/>
          </a:prstGeom>
        </p:spPr>
        <p:txBody>
          <a:bodyPr vert="horz" wrap="square" lIns="0" tIns="12700" rIns="0" bIns="0" rtlCol="0" anchor="t">
            <a:spAutoFit/>
          </a:bodyPr>
          <a:lstStyle/>
          <a:p>
            <a:pPr marL="285750" indent="-285750">
              <a:buFont typeface="Arial" panose="020B0604020202020204" pitchFamily="34" charset="0"/>
              <a:buChar char="•"/>
            </a:pPr>
            <a:r>
              <a:rPr lang="en-IN" b="1">
                <a:latin typeface="Times New Roman"/>
                <a:cs typeface="Times New Roman"/>
              </a:rPr>
              <a:t>Research Setting:</a:t>
            </a:r>
            <a:r>
              <a:rPr lang="en-IN" dirty="0">
                <a:latin typeface="Times New Roman"/>
                <a:cs typeface="Times New Roman"/>
              </a:rPr>
              <a:t> </a:t>
            </a:r>
            <a:r>
              <a:rPr lang="en-IN"/>
              <a:t>AI-powered softwa</a:t>
            </a:r>
            <a:r>
              <a:rPr lang="en-IN">
                <a:latin typeface="Times New Roman"/>
                <a:cs typeface="Times New Roman"/>
              </a:rPr>
              <a:t>re development</a:t>
            </a:r>
            <a:r>
              <a:rPr lang="en-IN"/>
              <a:t> environment</a:t>
            </a:r>
            <a:r>
              <a:rPr lang="en-IN" dirty="0">
                <a:latin typeface="Times New Roman"/>
                <a:cs typeface="Times New Roman"/>
              </a:rPr>
              <a:t> </a:t>
            </a:r>
          </a:p>
          <a:p>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b="1">
                <a:latin typeface="Times New Roman"/>
                <a:cs typeface="Times New Roman"/>
              </a:rPr>
              <a:t>Participants:</a:t>
            </a:r>
            <a:r>
              <a:rPr lang="en-IN" dirty="0">
                <a:latin typeface="Times New Roman"/>
                <a:cs typeface="Times New Roman"/>
              </a:rPr>
              <a:t> </a:t>
            </a:r>
            <a:r>
              <a:rPr lang="en-IN"/>
              <a:t>Developers using AI-based coding tools</a:t>
            </a:r>
          </a:p>
          <a:p>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b="1" dirty="0">
                <a:latin typeface="Times New Roman"/>
                <a:cs typeface="Times New Roman"/>
              </a:rPr>
              <a:t>Interaction Medium:</a:t>
            </a:r>
            <a:r>
              <a:rPr lang="en-IN" dirty="0">
                <a:latin typeface="Times New Roman"/>
                <a:cs typeface="Times New Roman"/>
              </a:rPr>
              <a:t> </a:t>
            </a:r>
            <a:r>
              <a:rPr lang="en-IN" dirty="0"/>
              <a:t>GitHub Copilot, Amazon Q Developer, </a:t>
            </a:r>
            <a:r>
              <a:rPr lang="en-IN" dirty="0" err="1"/>
              <a:t>Tabnine</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b="1">
                <a:latin typeface="Times New Roman"/>
                <a:cs typeface="Times New Roman"/>
              </a:rPr>
              <a:t>Data Collected:</a:t>
            </a:r>
            <a:r>
              <a:rPr lang="en-IN" dirty="0">
                <a:latin typeface="Times New Roman"/>
                <a:cs typeface="Times New Roman"/>
              </a:rPr>
              <a:t> </a:t>
            </a:r>
            <a:r>
              <a:rPr lang="en-IN"/>
              <a:t>Research papers, industry reports, and case studies</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b="1">
                <a:latin typeface="Times New Roman"/>
                <a:cs typeface="Times New Roman"/>
              </a:rPr>
              <a:t> Approach Used:</a:t>
            </a:r>
            <a:r>
              <a:rPr lang="en-IN" dirty="0">
                <a:latin typeface="Times New Roman"/>
                <a:cs typeface="Times New Roman"/>
              </a:rPr>
              <a:t> </a:t>
            </a:r>
            <a:r>
              <a:rPr lang="en-IN"/>
              <a:t>Comparative and data-driven analysis</a:t>
            </a:r>
          </a:p>
          <a:p>
            <a:pPr marL="285750" indent="-285750">
              <a:buFont typeface="Arial" panose="020B0604020202020204" pitchFamily="34" charset="0"/>
              <a:buChar char="•"/>
            </a:pPr>
            <a:endParaRPr lang="en-IN"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b="1">
                <a:latin typeface="Times New Roman"/>
                <a:cs typeface="Times New Roman"/>
              </a:rPr>
              <a:t>Analysis Method:</a:t>
            </a:r>
            <a:r>
              <a:rPr lang="en-IN" dirty="0">
                <a:latin typeface="Times New Roman"/>
                <a:cs typeface="Times New Roman"/>
              </a:rPr>
              <a:t> </a:t>
            </a:r>
            <a:r>
              <a:rPr lang="en-IN"/>
              <a:t>Evaluation of coding efficiency, testing, debugging, and productivity improvements</a:t>
            </a:r>
            <a:endParaRPr lang="en-IN" sz="1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06222" rIns="0" bIns="0" rtlCol="0">
            <a:spAutoFit/>
          </a:bodyPr>
          <a:lstStyle/>
          <a:p>
            <a:pPr marL="264160">
              <a:lnSpc>
                <a:spcPct val="100000"/>
              </a:lnSpc>
              <a:spcBef>
                <a:spcPts val="100"/>
              </a:spcBef>
            </a:pPr>
            <a:r>
              <a:rPr lang="en-IN" spc="-10" dirty="0"/>
              <a:t>Finding and Outcomes</a:t>
            </a:r>
            <a:endParaRPr spc="-10" dirty="0"/>
          </a:p>
        </p:txBody>
      </p:sp>
      <p:sp>
        <p:nvSpPr>
          <p:cNvPr id="7" name="TextBox 6">
            <a:extLst>
              <a:ext uri="{FF2B5EF4-FFF2-40B4-BE49-F238E27FC236}">
                <a16:creationId xmlns:a16="http://schemas.microsoft.com/office/drawing/2014/main" id="{A6DBD447-5157-4E36-3E82-1515F4ABB96A}"/>
              </a:ext>
            </a:extLst>
          </p:cNvPr>
          <p:cNvSpPr txBox="1"/>
          <p:nvPr/>
        </p:nvSpPr>
        <p:spPr>
          <a:xfrm>
            <a:off x="381000" y="1066800"/>
            <a:ext cx="8077200" cy="4524315"/>
          </a:xfrm>
          <a:prstGeom prst="rect">
            <a:avLst/>
          </a:prstGeom>
          <a:noFill/>
        </p:spPr>
        <p:txBody>
          <a:bodyPr wrap="square" lIns="91440" tIns="45720" rIns="91440" bIns="45720" rtlCol="0" anchor="t">
            <a:spAutoFit/>
          </a:bodyPr>
          <a:lstStyle/>
          <a:p>
            <a:pPr algn="just"/>
            <a:r>
              <a:rPr lang="en-US">
                <a:latin typeface="Times New Roman"/>
                <a:cs typeface="Times New Roman"/>
              </a:rPr>
              <a:t>The findings of this study show that Artificial Intelligence has significantly improved modern software development practices. AI-powered tools help developers increase coding speed, improve testing, reduce debugging time, and enhance overall productivity.</a:t>
            </a:r>
            <a:endParaRPr lang="en-US" dirty="0">
              <a:solidFill>
                <a:srgbClr val="000000"/>
              </a:solidFill>
              <a:latin typeface="Times New Roman"/>
              <a:cs typeface="Times New Roman"/>
            </a:endParaRPr>
          </a:p>
          <a:p>
            <a:pPr algn="just"/>
            <a:endParaRPr lang="en-US" dirty="0">
              <a:latin typeface="Times New Roman"/>
              <a:cs typeface="Times New Roman"/>
            </a:endParaRPr>
          </a:p>
          <a:p>
            <a:pPr algn="just"/>
            <a:r>
              <a:rPr lang="en-US">
                <a:latin typeface="Times New Roman"/>
                <a:cs typeface="Times New Roman"/>
              </a:rPr>
              <a:t>The analysis shows that developers increasingly depend on AI-powered tools for coding, testing, and debugging tasks. While these tools improve efficiency and productivity, excessive dependence on AI-generated solutions may reduce problem-solving skills and create reliability concerns in software development.</a:t>
            </a:r>
            <a:endParaRPr lang="en-US" dirty="0">
              <a:latin typeface="Times New Roman"/>
              <a:cs typeface="Times New Roman"/>
            </a:endParaRPr>
          </a:p>
          <a:p>
            <a:pPr algn="just"/>
            <a:endParaRPr lang="en-US" dirty="0">
              <a:latin typeface="Times New Roman"/>
              <a:cs typeface="Times New Roman"/>
            </a:endParaRPr>
          </a:p>
          <a:p>
            <a:pPr algn="just"/>
            <a:r>
              <a:rPr lang="en-US" dirty="0">
                <a:latin typeface="Times New Roman"/>
                <a:cs typeface="Times New Roman"/>
              </a:rPr>
              <a:t>In addition, the study reveals that increasing reliance on AI tools is changing modern software development practices. While AI improves coding efficiency and productivity, challenges such as security risks, lack of transparency, and overdependence on AI-generated code still remain. Overall, the findings confirm that AI has become an important part of modern software development, but it should assist developers rather than replace them completely.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739" y="186639"/>
            <a:ext cx="6017261" cy="599702"/>
          </a:xfrm>
          <a:prstGeom prst="rect">
            <a:avLst/>
          </a:prstGeom>
        </p:spPr>
        <p:txBody>
          <a:bodyPr vert="horz" wrap="square" lIns="0" tIns="106222" rIns="0" bIns="0" rtlCol="0">
            <a:spAutoFit/>
          </a:bodyPr>
          <a:lstStyle/>
          <a:p>
            <a:pPr marL="264160">
              <a:lnSpc>
                <a:spcPct val="100000"/>
              </a:lnSpc>
              <a:spcBef>
                <a:spcPts val="100"/>
              </a:spcBef>
            </a:pPr>
            <a:r>
              <a:rPr spc="-10" dirty="0"/>
              <a:t>Conclusion</a:t>
            </a:r>
            <a:r>
              <a:rPr lang="en-IN" spc="-10" dirty="0"/>
              <a:t> and Future Scope</a:t>
            </a:r>
            <a:endParaRPr spc="-10" dirty="0"/>
          </a:p>
        </p:txBody>
      </p:sp>
      <p:sp>
        <p:nvSpPr>
          <p:cNvPr id="3" name="object 3"/>
          <p:cNvSpPr txBox="1">
            <a:spLocks noGrp="1"/>
          </p:cNvSpPr>
          <p:nvPr>
            <p:ph type="body" idx="1"/>
          </p:nvPr>
        </p:nvSpPr>
        <p:spPr>
          <a:xfrm>
            <a:off x="258267" y="1076959"/>
            <a:ext cx="8494395" cy="5597045"/>
          </a:xfrm>
          <a:prstGeom prst="rect">
            <a:avLst/>
          </a:prstGeom>
        </p:spPr>
        <p:txBody>
          <a:bodyPr vert="horz" wrap="square" lIns="0" tIns="13335" rIns="0" bIns="0" rtlCol="0" anchor="t">
            <a:spAutoFit/>
          </a:bodyPr>
          <a:lstStyle/>
          <a:p>
            <a:pPr algn="l"/>
            <a:r>
              <a:rPr lang="en-US" sz="1800" dirty="0"/>
              <a:t>In the future, this study can be extended by exploring more advanced AI technologies and their impact on software development practices. Using larger industry datasets and real-world development environments can provide deeper insights into how AI-powered tools improve coding, testing, debugging, and overall developer productivity.</a:t>
            </a:r>
          </a:p>
          <a:p>
            <a:pPr>
              <a:buNone/>
            </a:pPr>
            <a:endParaRPr lang="en-US" sz="1800" dirty="0"/>
          </a:p>
          <a:p>
            <a:r>
              <a:rPr lang="en-US" sz="1800"/>
              <a:t>Further research can also focus on improving AI-powered development tools by making them more transparent, reliable, and secure. AI systems should provide clear explanations for generated code and decisions to help developers better understand and trust AI-assisted software development processes.</a:t>
            </a:r>
            <a:endParaRPr lang="en-US" sz="1800" dirty="0"/>
          </a:p>
          <a:p>
            <a:pPr>
              <a:buNone/>
            </a:pPr>
            <a:endParaRPr lang="en-US" sz="1800" dirty="0"/>
          </a:p>
          <a:p>
            <a:pPr algn="l"/>
            <a:r>
              <a:rPr lang="en-US" sz="1800" dirty="0"/>
              <a:t>Additionally, studying long-term AI integration can help understand how developers depend on AI-powered tools over time and how it affects software development practices. Future work can also explore how balanced and efficient use of AI can improve productivity while maintaining strong problem-solving and development skills.</a:t>
            </a:r>
          </a:p>
          <a:p>
            <a:endParaRPr lang="en-US" sz="1800" dirty="0"/>
          </a:p>
          <a:p>
            <a:r>
              <a:rPr lang="en-US" sz="1800"/>
              <a:t>Overall, the study highlights that AI systems should not only focus on automation and efficiency but also on transparency, reliability, and security. Designing AI-powered development tools that support trust and effective human-AI collaboration is essential for improving modern software development practices.</a:t>
            </a:r>
            <a:endParaRPr lang="en-US"/>
          </a:p>
          <a:p>
            <a:pPr marL="12700" marR="122555">
              <a:spcBef>
                <a:spcPts val="105"/>
              </a:spcBef>
            </a:pP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06222" rIns="0" bIns="0" rtlCol="0">
            <a:spAutoFit/>
          </a:bodyPr>
          <a:lstStyle/>
          <a:p>
            <a:pPr marL="335915">
              <a:lnSpc>
                <a:spcPct val="100000"/>
              </a:lnSpc>
              <a:spcBef>
                <a:spcPts val="100"/>
              </a:spcBef>
            </a:pPr>
            <a:r>
              <a:rPr spc="-10" dirty="0"/>
              <a:t>References</a:t>
            </a:r>
          </a:p>
        </p:txBody>
      </p:sp>
      <p:sp>
        <p:nvSpPr>
          <p:cNvPr id="3" name="object 3"/>
          <p:cNvSpPr txBox="1"/>
          <p:nvPr/>
        </p:nvSpPr>
        <p:spPr>
          <a:xfrm>
            <a:off x="186334" y="1093723"/>
            <a:ext cx="3670935" cy="289823"/>
          </a:xfrm>
          <a:prstGeom prst="rect">
            <a:avLst/>
          </a:prstGeom>
        </p:spPr>
        <p:txBody>
          <a:bodyPr vert="horz" wrap="square" lIns="0" tIns="12700" rIns="0" bIns="0" rtlCol="0">
            <a:spAutoFit/>
          </a:bodyPr>
          <a:lstStyle/>
          <a:p>
            <a:pPr marL="12065" marR="5080">
              <a:lnSpc>
                <a:spcPct val="100000"/>
              </a:lnSpc>
              <a:spcBef>
                <a:spcPts val="100"/>
              </a:spcBef>
              <a:tabLst>
                <a:tab pos="299085" algn="l"/>
                <a:tab pos="1446530" algn="l"/>
              </a:tabLst>
            </a:pPr>
            <a:endParaRPr sz="1800" dirty="0">
              <a:latin typeface="Times New Roman"/>
              <a:cs typeface="Times New Roman"/>
            </a:endParaRPr>
          </a:p>
        </p:txBody>
      </p:sp>
      <p:sp>
        <p:nvSpPr>
          <p:cNvPr id="4" name="object 4"/>
          <p:cNvSpPr txBox="1"/>
          <p:nvPr/>
        </p:nvSpPr>
        <p:spPr>
          <a:xfrm>
            <a:off x="186334" y="811004"/>
            <a:ext cx="8771332" cy="4118050"/>
          </a:xfrm>
          <a:prstGeom prst="rect">
            <a:avLst/>
          </a:prstGeom>
        </p:spPr>
        <p:txBody>
          <a:bodyPr vert="horz" wrap="square" lIns="0" tIns="12700" rIns="0" bIns="0" rtlCol="0" anchor="t">
            <a:spAutoFit/>
          </a:bodyPr>
          <a:lstStyle/>
          <a:p>
            <a:pPr marL="285750" indent="-285750">
              <a:lnSpc>
                <a:spcPct val="150000"/>
              </a:lnSpc>
              <a:buFont typeface="Wingdings" panose="05000000000000000000" pitchFamily="2" charset="2"/>
              <a:buChar char="§"/>
            </a:pPr>
            <a:r>
              <a:rPr lang="en-IN" i="1">
                <a:solidFill>
                  <a:srgbClr val="000000"/>
                </a:solidFill>
                <a:latin typeface="Times New Roman"/>
                <a:cs typeface="Times New Roman"/>
              </a:rPr>
              <a:t>Grand View Research – Artificial Intelligence in Software Development Market Report</a:t>
            </a:r>
          </a:p>
          <a:p>
            <a:pPr marL="285750" indent="-285750">
              <a:lnSpc>
                <a:spcPct val="150000"/>
              </a:lnSpc>
              <a:buFont typeface="Wingdings" panose="05000000000000000000" pitchFamily="2" charset="2"/>
              <a:buChar char="§"/>
            </a:pPr>
            <a:r>
              <a:rPr lang="en-IN" i="1">
                <a:latin typeface="Times New Roman"/>
                <a:cs typeface="Times New Roman"/>
              </a:rPr>
              <a:t>GitHub – GitHub Copilot Documentation</a:t>
            </a:r>
            <a:endParaRPr lang="en-IN" i="1" dirty="0">
              <a:latin typeface="Times New Roman"/>
              <a:cs typeface="Times New Roman"/>
            </a:endParaRPr>
          </a:p>
          <a:p>
            <a:pPr marL="285750" indent="-285750">
              <a:lnSpc>
                <a:spcPct val="150000"/>
              </a:lnSpc>
              <a:buFont typeface="Wingdings" panose="05000000000000000000" pitchFamily="2" charset="2"/>
              <a:buChar char="§"/>
            </a:pPr>
            <a:r>
              <a:rPr lang="en-IN" i="1">
                <a:latin typeface="Times New Roman"/>
                <a:cs typeface="Times New Roman"/>
              </a:rPr>
              <a:t>Amazon Web Services – Amazon Q Developer Documentation</a:t>
            </a:r>
            <a:endParaRPr lang="en-IN" i="1" dirty="0">
              <a:latin typeface="Times New Roman"/>
              <a:cs typeface="Times New Roman"/>
            </a:endParaRPr>
          </a:p>
          <a:p>
            <a:pPr marL="285750" indent="-285750">
              <a:lnSpc>
                <a:spcPct val="150000"/>
              </a:lnSpc>
              <a:buFont typeface="Wingdings" panose="05000000000000000000" pitchFamily="2" charset="2"/>
              <a:buChar char="§"/>
            </a:pPr>
            <a:r>
              <a:rPr lang="en-IN" i="1">
                <a:latin typeface="Times New Roman"/>
                <a:cs typeface="Times New Roman"/>
              </a:rPr>
              <a:t>Stack Overflow – Developer Survey on AI Tools Adoption</a:t>
            </a:r>
            <a:r>
              <a:rPr lang="en-IN" i="1" dirty="0">
                <a:latin typeface="Times New Roman"/>
                <a:cs typeface="Times New Roman"/>
              </a:rPr>
              <a:t> </a:t>
            </a:r>
          </a:p>
          <a:p>
            <a:pPr marL="285750" indent="-285750">
              <a:lnSpc>
                <a:spcPct val="150000"/>
              </a:lnSpc>
              <a:buFont typeface="Wingdings" panose="05000000000000000000" pitchFamily="2" charset="2"/>
              <a:buChar char="§"/>
            </a:pPr>
            <a:r>
              <a:rPr lang="en-IN" i="1">
                <a:latin typeface="Times New Roman"/>
                <a:cs typeface="Times New Roman"/>
              </a:rPr>
              <a:t>Anthropic – Claude AI Research and Enterprise Usage Report</a:t>
            </a:r>
          </a:p>
          <a:p>
            <a:pPr marL="285750" indent="-285750">
              <a:lnSpc>
                <a:spcPct val="150000"/>
              </a:lnSpc>
              <a:buFont typeface="Wingdings" panose="05000000000000000000" pitchFamily="2" charset="2"/>
              <a:buChar char="§"/>
            </a:pPr>
            <a:r>
              <a:rPr lang="en-IN" i="1" dirty="0">
                <a:latin typeface="Times New Roman"/>
                <a:cs typeface="Times New Roman"/>
              </a:rPr>
              <a:t> </a:t>
            </a:r>
            <a:r>
              <a:rPr lang="en-IN" i="1">
                <a:latin typeface="Times New Roman"/>
                <a:cs typeface="Times New Roman"/>
              </a:rPr>
              <a:t>Brown, T. B. et al. – Language Models are Few-Shot Learners</a:t>
            </a:r>
            <a:endParaRPr lang="en-IN" i="1" dirty="0">
              <a:latin typeface="Times New Roman"/>
              <a:cs typeface="Times New Roman"/>
            </a:endParaRPr>
          </a:p>
          <a:p>
            <a:pPr marL="285750" indent="-285750">
              <a:lnSpc>
                <a:spcPct val="150000"/>
              </a:lnSpc>
              <a:buFont typeface="Wingdings" panose="05000000000000000000" pitchFamily="2" charset="2"/>
              <a:buChar char="§"/>
            </a:pPr>
            <a:r>
              <a:rPr lang="en-IN" i="1">
                <a:latin typeface="Times New Roman"/>
                <a:cs typeface="Times New Roman"/>
              </a:rPr>
              <a:t>Kim, M., Lee, S., Park, J. – Automated Test Case Generation Using Machine Learning Techniques</a:t>
            </a:r>
            <a:endParaRPr lang="en-IN" i="1" dirty="0">
              <a:latin typeface="Times New Roman"/>
              <a:cs typeface="Times New Roman"/>
            </a:endParaRPr>
          </a:p>
          <a:p>
            <a:pPr marL="285750" indent="-285750">
              <a:lnSpc>
                <a:spcPct val="150000"/>
              </a:lnSpc>
              <a:buFont typeface="Wingdings" panose="05000000000000000000" pitchFamily="2" charset="2"/>
              <a:buChar char="§"/>
            </a:pPr>
            <a:r>
              <a:rPr lang="en-IN" i="1">
                <a:latin typeface="Times New Roman"/>
                <a:cs typeface="Times New Roman"/>
              </a:rPr>
              <a:t>Pedregosa, F. et al. – Scikit-learn: Machine Learning in Python</a:t>
            </a:r>
            <a:endParaRPr lang="en-IN" i="1" dirty="0">
              <a:latin typeface="Times New Roman"/>
              <a:cs typeface="Times New Roman"/>
            </a:endParaRPr>
          </a:p>
          <a:p>
            <a:pPr marL="285750" lvl="0" indent="-285750">
              <a:lnSpc>
                <a:spcPct val="150000"/>
              </a:lnSpc>
              <a:buFont typeface="Wingdings" panose="05000000000000000000" pitchFamily="2" charset="2"/>
              <a:buChar char="§"/>
            </a:pPr>
            <a:r>
              <a:rPr lang="en-IN" i="1" dirty="0">
                <a:latin typeface="Times New Roman"/>
                <a:cs typeface="Times New Roman"/>
              </a:rPr>
              <a:t>Yin, S. et al. – AI-mediated Social Support and Human-AI Collaboration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1173</TotalTime>
  <Words>1228</Words>
  <Application>Microsoft Office PowerPoint</Application>
  <PresentationFormat>On-screen Show (4:3)</PresentationFormat>
  <Paragraphs>83</Paragraphs>
  <Slides>9</Slides>
  <Notes>1</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Table of Content</vt:lpstr>
      <vt:lpstr>Introduction</vt:lpstr>
      <vt:lpstr>Problem Statement</vt:lpstr>
      <vt:lpstr>Methodology</vt:lpstr>
      <vt:lpstr>Tools and Technologies</vt:lpstr>
      <vt:lpstr>Finding and Outcomes</vt:lpstr>
      <vt:lpstr>Conclusion and Future Scope</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Cricket</dc:title>
  <dc:creator>abc</dc:creator>
  <cp:lastModifiedBy>Mansi Singh</cp:lastModifiedBy>
  <cp:revision>99</cp:revision>
  <dcterms:created xsi:type="dcterms:W3CDTF">2025-04-23T12:42:48Z</dcterms:created>
  <dcterms:modified xsi:type="dcterms:W3CDTF">2026-05-15T05:43:47Z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2025-03-07T00:00:00Z</vt:filetime>
  </property>
  <property fmtid="{D5CDD505-2E9C-101B-9397-08002B2CF9AE}" pid="3" name="Creator">
    <vt:lpwstr>Microsoft® PowerPoint® 2021</vt:lpwstr>
  </property>
  <property fmtid="{D5CDD505-2E9C-101B-9397-08002B2CF9AE}" pid="4" name="LastSaved">
    <vt:filetime>2025-04-23T00:00:00Z</vt:filetime>
  </property>
  <property fmtid="{D5CDD505-2E9C-101B-9397-08002B2CF9AE}" pid="5" name="Producer">
    <vt:lpwstr>Microsoft® PowerPoint® 2021</vt:lpwstr>
  </property>
</Properties>
</file>